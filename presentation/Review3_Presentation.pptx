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15"/>
  </p:notesMasterIdLst>
  <p:handoutMasterIdLst>
    <p:handoutMasterId r:id="rId16"/>
  </p:handoutMasterIdLst>
  <p:sldIdLst>
    <p:sldId id="538" r:id="rId2"/>
    <p:sldId id="535" r:id="rId3"/>
    <p:sldId id="569" r:id="rId4"/>
    <p:sldId id="568" r:id="rId5"/>
    <p:sldId id="586" r:id="rId6"/>
    <p:sldId id="587" r:id="rId21"/>
    <p:sldId id="584" r:id="rId7"/>
    <p:sldId id="588" r:id="rId22"/>
    <p:sldId id="589" r:id="rId23"/>
    <p:sldId id="590" r:id="rId24"/>
    <p:sldId id="583" r:id="rId8"/>
    <p:sldId id="581" r:id="rId9"/>
    <p:sldId id="591" r:id="rId25"/>
    <p:sldId id="582" r:id="rId10"/>
    <p:sldId id="592" r:id="rId26"/>
    <p:sldId id="580" r:id="rId11"/>
    <p:sldId id="577" r:id="rId12"/>
    <p:sldId id="579" r:id="rId13"/>
    <p:sldId id="549" r:id="rId14"/>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a:srgbClr val="FF0066"/>
    <a:srgbClr val="0000FF"/>
    <a:srgbClr val="33CC33"/>
    <a:srgbClr val="00FFFF"/>
    <a:srgbClr val="6600FF"/>
    <a:srgbClr val="CC66FF"/>
    <a:srgbClr val="62832D"/>
    <a:srgbClr val="0066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37" autoAdjust="0"/>
    <p:restoredTop sz="86811" autoAdjust="0"/>
  </p:normalViewPr>
  <p:slideViewPr>
    <p:cSldViewPr>
      <p:cViewPr varScale="1">
        <p:scale>
          <a:sx n="63" d="100"/>
          <a:sy n="63" d="100"/>
        </p:scale>
        <p:origin x="796" y="56"/>
      </p:cViewPr>
      <p:guideLst>
        <p:guide orient="horz" pos="2160"/>
        <p:guide pos="3840"/>
      </p:guideLst>
    </p:cSldViewPr>
  </p:slideViewPr>
  <p:notesTextViewPr>
    <p:cViewPr>
      <p:scale>
        <a:sx n="100" d="100"/>
        <a:sy n="100" d="100"/>
      </p:scale>
      <p:origin x="0" y="0"/>
    </p:cViewPr>
  </p:notesTextViewPr>
  <p:sorterViewPr>
    <p:cViewPr>
      <p:scale>
        <a:sx n="90" d="100"/>
        <a:sy n="90" d="100"/>
      </p:scale>
      <p:origin x="0" y="1308"/>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0033CC"/>
                </a:solidFill>
                <a:latin typeface="Trebuchet MS"/>
              </a:rPr>
              <a:t>Real ads among flagged events, by evidence tier</a:t>
            </a:r>
          </a:p>
        </c:rich>
      </c:tx>
      <c:layout/>
      <c:overlay val="0"/>
    </c:title>
    <c:autoTitleDeleted val="0"/>
    <c:plotArea>
      <c:barChart>
        <c:barDir val="bar"/>
        <c:grouping val="clustered"/>
        <c:ser>
          <c:idx val="0"/>
          <c:order val="0"/>
          <c:tx>
            <c:strRef>
              <c:f>Sheet1!$B$1</c:f>
              <c:strCache>
                <c:ptCount val="1"/>
                <c:pt idx="0">
                  <c:v>Real ads</c:v>
                </c:pt>
              </c:strCache>
            </c:strRef>
          </c:tx>
          <c:spPr>
            <a:solidFill>
              <a:srgbClr val="0033CC"/>
            </a:solidFill>
          </c:spPr>
          <c:dPt>
            <c:idx val="0"/>
            <c:spPr>
              <a:solidFill>
                <a:srgbClr val="0033CC"/>
              </a:solidFill>
            </c:spPr>
          </c:dPt>
          <c:dPt>
            <c:idx val="1"/>
            <c:spPr>
              <a:solidFill>
                <a:srgbClr val="0033CC"/>
              </a:solidFill>
            </c:spPr>
          </c:dPt>
          <c:dPt>
            <c:idx val="2"/>
            <c:spPr>
              <a:solidFill>
                <a:srgbClr val="0033CC"/>
              </a:solidFill>
            </c:spPr>
          </c:dPt>
          <c:dPt>
            <c:idx val="3"/>
            <c:spPr>
              <a:solidFill>
                <a:srgbClr val="0033CC"/>
              </a:solidFill>
            </c:spPr>
          </c:dPt>
          <c:dPt>
            <c:idx val="4"/>
            <c:spPr>
              <a:solidFill>
                <a:srgbClr val="0033CC"/>
              </a:solidFill>
            </c:spPr>
          </c:dPt>
          <c:dPt>
            <c:idx val="5"/>
            <c:spPr>
              <a:solidFill>
                <a:srgbClr val="FF9900"/>
              </a:solidFill>
            </c:spPr>
          </c:dPt>
          <c:cat>
            <c:strRef>
              <c:f>Sheet1!$A$2:$A$7</c:f>
              <c:strCache>
                <c:ptCount val="6"/>
                <c:pt idx="0">
                  <c:v>official label (n=14)</c:v>
                </c:pt>
                <c:pt idx="1">
                  <c:v>disclosure tag (n=3)</c:v>
                </c:pt>
                <c:pt idx="2">
                  <c:v>brand mention (n=5)</c:v>
                </c:pt>
                <c:pt idx="3">
                  <c:v>spoken (n=24)</c:v>
                </c:pt>
                <c:pt idx="4">
                  <c:v>brand + code (n=29)</c:v>
                </c:pt>
                <c:pt idx="5">
                  <c:v>text-only reading (n=113)</c:v>
                </c:pt>
              </c:strCache>
            </c:strRef>
          </c:cat>
          <c:val>
            <c:numRef>
              <c:f>Sheet1!$B$2:$B$7</c:f>
              <c:numCache>
                <c:formatCode>General</c:formatCode>
                <c:ptCount val="6"/>
                <c:pt idx="0">
                  <c:v>100</c:v>
                </c:pt>
                <c:pt idx="1">
                  <c:v>100</c:v>
                </c:pt>
                <c:pt idx="2">
                  <c:v>100</c:v>
                </c:pt>
                <c:pt idx="3">
                  <c:v>96</c:v>
                </c:pt>
                <c:pt idx="4">
                  <c:v>97</c:v>
                </c:pt>
                <c:pt idx="5">
                  <c:v>61</c:v>
                </c:pt>
              </c:numCache>
            </c:numRef>
          </c:val>
        </c:ser>
        <c:dLbls>
          <c:numFmt formatCode="0&quot;%&quot;" sourceLinked="0"/>
          <c:txPr>
            <a:bodyPr/>
            <a:lstStyle/>
            <a:p>
              <a:pPr>
                <a:defRPr sz="1100" b="1"/>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ax val="118.0"/>
          <c:min val="0.0"/>
        </c:scaling>
        <c:delete val="0"/>
        <c:axPos val="b"/>
        <c:majorGridlines>
          <c:spPr>
            <a:ln>
              <a:solidFill>
                <a:srgbClr val="DDE3F0"/>
              </a:solidFill>
            </a:ln>
          </c:spPr>
        </c:majorGridlines>
        <c:majorTickMark val="out"/>
        <c:minorTickMark val="none"/>
        <c:tickLblPos val="nextTo"/>
        <c:spPr>
          <a:ln>
            <a:noFill/>
          </a:ln>
        </c:spPr>
        <c:txPr>
          <a:bodyPr/>
          <a:lstStyle/>
          <a:p>
            <a:pPr>
              <a:defRPr sz="1000">
                <a:solidFill>
                  <a:srgbClr val="5E6C73"/>
                </a:solidFill>
              </a:defRPr>
            </a:pPr>
          </a:p>
        </c:txPr>
        <c:crossAx val="-2068027336"/>
        <c:crosses val="autoZero"/>
      </c:valAx>
    </c:plotArea>
    <c:dispBlanksAs val="gap"/>
  </c:chart>
  <c:txPr>
    <a:bodyPr/>
    <a:lstStyle/>
    <a:p>
      <a:pPr>
        <a:defRPr sz="1100">
          <a:solidFill>
            <a:srgbClr val="1B1B1B"/>
          </a:solidFill>
          <a:latin typeface="Trebuchet M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0033CC"/>
                </a:solidFill>
                <a:latin typeface="Trebuchet MS"/>
              </a:rPr>
              <a:t>Creators of the 150 with a graph link</a:t>
            </a:r>
          </a:p>
        </c:rich>
      </c:tx>
      <c:layout/>
      <c:overlay val="0"/>
    </c:title>
    <c:autoTitleDeleted val="0"/>
    <c:plotArea>
      <c:barChart>
        <c:barDir val="col"/>
        <c:grouping val="clustered"/>
        <c:ser>
          <c:idx val="0"/>
          <c:order val="0"/>
          <c:tx>
            <c:strRef>
              <c:f>Sheet1!$B$1</c:f>
              <c:strCache>
                <c:ptCount val="1"/>
                <c:pt idx="0">
                  <c:v>Creators linked</c:v>
                </c:pt>
              </c:strCache>
            </c:strRef>
          </c:tx>
          <c:spPr>
            <a:solidFill>
              <a:srgbClr val="33CCCC"/>
            </a:solidFill>
          </c:spPr>
          <c:cat>
            <c:strRef>
              <c:f>Sheet1!$A$2:$A$4</c:f>
              <c:strCache>
                <c:ptCount val="3"/>
                <c:pt idx="0">
                  <c:v>Before</c:v>
                </c:pt>
                <c:pt idx="1">
                  <c:v>+ shared brand</c:v>
                </c:pt>
                <c:pt idx="2">
                  <c:v>+ @mentions</c:v>
                </c:pt>
              </c:strCache>
            </c:strRef>
          </c:cat>
          <c:val>
            <c:numRef>
              <c:f>Sheet1!$B$2:$B$4</c:f>
              <c:numCache>
                <c:formatCode>General</c:formatCode>
                <c:ptCount val="3"/>
                <c:pt idx="0">
                  <c:v>17</c:v>
                </c:pt>
                <c:pt idx="1">
                  <c:v>85</c:v>
                </c:pt>
                <c:pt idx="2">
                  <c:v>95</c:v>
                </c:pt>
              </c:numCache>
            </c:numRef>
          </c:val>
        </c:ser>
        <c:dLbls>
          <c:numFmt formatCode="0" sourceLinked="0"/>
          <c:txPr>
            <a:bodyPr/>
            <a:lstStyle/>
            <a:p>
              <a:pPr>
                <a:defRPr sz="1100" b="1"/>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ax val="165.0"/>
          <c:min val="0.0"/>
        </c:scaling>
        <c:delete val="0"/>
        <c:axPos val="l"/>
        <c:majorGridlines>
          <c:spPr>
            <a:ln>
              <a:solidFill>
                <a:srgbClr val="DDE3F0"/>
              </a:solidFill>
            </a:ln>
          </c:spPr>
        </c:majorGridlines>
        <c:majorTickMark val="out"/>
        <c:minorTickMark val="none"/>
        <c:tickLblPos val="nextTo"/>
        <c:spPr>
          <a:ln>
            <a:noFill/>
          </a:ln>
        </c:spPr>
        <c:txPr>
          <a:bodyPr/>
          <a:lstStyle/>
          <a:p>
            <a:pPr>
              <a:defRPr sz="1000">
                <a:solidFill>
                  <a:srgbClr val="5E6C73"/>
                </a:solidFill>
              </a:defRPr>
            </a:pPr>
          </a:p>
        </c:txPr>
        <c:crossAx val="-2068027336"/>
        <c:crosses val="autoZero"/>
      </c:valAx>
    </c:plotArea>
    <c:dispBlanksAs val="gap"/>
  </c:chart>
  <c:txPr>
    <a:bodyPr/>
    <a:lstStyle/>
    <a:p>
      <a:pPr>
        <a:defRPr sz="1100">
          <a:solidFill>
            <a:srgbClr val="1B1B1B"/>
          </a:solidFill>
          <a:latin typeface="Trebuchet M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0033CC"/>
                </a:solidFill>
                <a:latin typeface="Trebuchet MS"/>
              </a:rPr>
              <a:t>SIMULATED: studies that say 'effect found'</a:t>
            </a:r>
          </a:p>
        </c:rich>
      </c:tx>
      <c:layout/>
      <c:overlay val="0"/>
    </c:title>
    <c:autoTitleDeleted val="0"/>
    <c:plotArea>
      <c:lineChart>
        <c:grouping val="standard"/>
        <c:varyColors val="0"/>
        <c:ser>
          <c:idx val="0"/>
          <c:order val="0"/>
          <c:tx>
            <c:strRef>
              <c:f>Sheet1!$B$1</c:f>
              <c:strCache>
                <c:ptCount val="1"/>
                <c:pt idx="0">
                  <c:v>Naive analysis</c:v>
                </c:pt>
              </c:strCache>
            </c:strRef>
          </c:tx>
          <c:spPr>
            <a:ln w="34925">
              <a:solidFill>
                <a:srgbClr val="5E6C73"/>
              </a:solidFill>
            </a:ln>
          </c:spPr>
          <c:marker>
            <c:spPr>
              <a:solidFill>
                <a:srgbClr val="5E6C73"/>
              </a:solidFill>
              <a:ln>
                <a:solidFill>
                  <a:srgbClr val="5E6C73"/>
                </a:solidFill>
              </a:ln>
            </c:spPr>
          </c:marker>
          <c:cat>
            <c:strRef>
              <c:f>Sheet1!$A$2:$A$6</c:f>
              <c:strCache>
                <c:ptCount val="5"/>
                <c:pt idx="0">
                  <c:v>0</c:v>
                </c:pt>
                <c:pt idx="1">
                  <c:v>0.10</c:v>
                </c:pt>
                <c:pt idx="2">
                  <c:v>0.25</c:v>
                </c:pt>
                <c:pt idx="3">
                  <c:v>0.50</c:v>
                </c:pt>
                <c:pt idx="4">
                  <c:v>1.00</c:v>
                </c:pt>
              </c:strCache>
            </c:strRef>
          </c:cat>
          <c:val>
            <c:numRef>
              <c:f>Sheet1!$B$2:$B$6</c:f>
              <c:numCache>
                <c:formatCode>General</c:formatCode>
                <c:ptCount val="5"/>
                <c:pt idx="0">
                  <c:v>100</c:v>
                </c:pt>
                <c:pt idx="1">
                  <c:v>100</c:v>
                </c:pt>
                <c:pt idx="2">
                  <c:v>100</c:v>
                </c:pt>
                <c:pt idx="3">
                  <c:v>100</c:v>
                </c:pt>
                <c:pt idx="4">
                  <c:v>100</c:v>
                </c:pt>
              </c:numCache>
            </c:numRef>
          </c:val>
          <c:smooth val="0"/>
        </c:ser>
        <c:ser>
          <c:idx val="1"/>
          <c:order val="1"/>
          <c:tx>
            <c:strRef>
              <c:f>Sheet1!$C$1</c:f>
              <c:strCache>
                <c:ptCount val="1"/>
                <c:pt idx="0">
                  <c:v>Placebo test (ours)</c:v>
                </c:pt>
              </c:strCache>
            </c:strRef>
          </c:tx>
          <c:spPr>
            <a:ln w="34925">
              <a:solidFill>
                <a:srgbClr val="0033CC"/>
              </a:solidFill>
            </a:ln>
          </c:spPr>
          <c:marker>
            <c:spPr>
              <a:solidFill>
                <a:srgbClr val="0033CC"/>
              </a:solidFill>
              <a:ln>
                <a:solidFill>
                  <a:srgbClr val="0033CC"/>
                </a:solidFill>
              </a:ln>
            </c:spPr>
          </c:marker>
          <c:dLbls>
            <c:numFmt formatCode="0&quot;%&quot;" sourceLinked="0"/>
            <c:txPr>
              <a:bodyPr/>
              <a:lstStyle/>
              <a:p>
                <a:pPr>
                  <a:defRPr sz="1100" b="1"/>
                </a:pPr>
              </a:p>
            </c:txPr>
            <c:dLblPos val="b"/>
            <c:showLegendKey val="0"/>
            <c:showVal val="1"/>
            <c:showCatName val="0"/>
            <c:showSerName val="0"/>
            <c:showPercent val="0"/>
            <c:showBubbleSize val="0"/>
            <c:showLeaderLines val="1"/>
          </c:dLbls>
          <c:cat>
            <c:strRef>
              <c:f>Sheet1!$A$2:$A$6</c:f>
              <c:strCache>
                <c:ptCount val="5"/>
                <c:pt idx="0">
                  <c:v>0</c:v>
                </c:pt>
                <c:pt idx="1">
                  <c:v>0.10</c:v>
                </c:pt>
                <c:pt idx="2">
                  <c:v>0.25</c:v>
                </c:pt>
                <c:pt idx="3">
                  <c:v>0.50</c:v>
                </c:pt>
                <c:pt idx="4">
                  <c:v>1.00</c:v>
                </c:pt>
              </c:strCache>
            </c:strRef>
          </c:cat>
          <c:val>
            <c:numRef>
              <c:f>Sheet1!$C$2:$C$6</c:f>
              <c:numCache>
                <c:formatCode>General</c:formatCode>
                <c:ptCount val="5"/>
                <c:pt idx="0">
                  <c:v>0</c:v>
                </c:pt>
                <c:pt idx="1">
                  <c:v>50</c:v>
                </c:pt>
                <c:pt idx="2">
                  <c:v>100</c:v>
                </c:pt>
                <c:pt idx="3">
                  <c:v>100</c:v>
                </c:pt>
                <c:pt idx="4">
                  <c:v>100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pPr>
          </a:p>
        </c:txPr>
        <c:crossAx val="2140495176"/>
        <c:crosses val="autoZero"/>
        <c:auto val="1"/>
        <c:lblAlgn val="ctr"/>
        <c:lblOffset val="100"/>
        <c:noMultiLvlLbl val="0"/>
      </c:catAx>
      <c:valAx>
        <c:axId val="2140495176"/>
        <c:scaling>
          <c:max val="105.0"/>
          <c:min val="0.0"/>
        </c:scaling>
        <c:delete val="0"/>
        <c:axPos val="l"/>
        <c:majorGridlines>
          <c:spPr>
            <a:ln>
              <a:solidFill>
                <a:srgbClr val="DDE3F0"/>
              </a:solidFill>
            </a:ln>
          </c:spPr>
        </c:majorGridlines>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solidFill>
            <a:srgbClr val="1B1B1B"/>
          </a:solidFill>
          <a:latin typeface="Trebuchet MS"/>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26A7C97D-3554-44E0-8E72-665D45387ACC}" type="datetimeFigureOut">
              <a:rPr lang="en-US"/>
              <a:pPr>
                <a:defRPr/>
              </a:pPr>
              <a:t>10/17/2026</a:t>
            </a:fld>
            <a:endParaRPr lang="en-US"/>
          </a:p>
        </p:txBody>
      </p:sp>
      <p:sp>
        <p:nvSpPr>
          <p:cNvPr id="4" name="Footer Placeholder 3"/>
          <p:cNvSpPr>
            <a:spLocks noGrp="1"/>
          </p:cNvSpPr>
          <p:nvPr>
            <p:ph type="ftr" sz="quarter" idx="2"/>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1486DC43-659C-4A17-BDC0-5684401D4FAB}"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C973BE83-6A1D-4DA3-83D0-ED76C71EFE38}" type="datetimeFigureOut">
              <a:rPr lang="en-US"/>
              <a:pPr>
                <a:defRPr/>
              </a:pPr>
              <a:t>10/17/2026</a:t>
            </a:fld>
            <a:endParaRPr lang="en-US"/>
          </a:p>
        </p:txBody>
      </p:sp>
      <p:sp>
        <p:nvSpPr>
          <p:cNvPr id="4" name="Slide Image Placeholder 3"/>
          <p:cNvSpPr>
            <a:spLocks noGrp="1" noRot="1" noChangeAspect="1"/>
          </p:cNvSpPr>
          <p:nvPr>
            <p:ph type="sldImg" idx="2"/>
          </p:nvPr>
        </p:nvSpPr>
        <p:spPr>
          <a:xfrm>
            <a:off x="407988" y="696913"/>
            <a:ext cx="6196012"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1848" y="4416426"/>
            <a:ext cx="5608320" cy="418306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01C81575-24DE-4F6C-A73E-0331B3B2E41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r>
              <a:t>Keep this to one minute. The key sentence is the last one: we apply known methods carefully and we say what the data can and cannot show.</a:t>
            </a:r>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3</a:t>
            </a:fld>
            <a:endParaRPr lang="en-US"/>
          </a:p>
        </p:txBody>
      </p:sp>
    </p:spTree>
    <p:extLst>
      <p:ext uri="{BB962C8B-B14F-4D97-AF65-F5344CB8AC3E}">
        <p14:creationId xmlns:p14="http://schemas.microsoft.com/office/powerpoint/2010/main" val="4131966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r>
              <a:t>These are the open items we carried out of Review 1 and 2. Be ready to say which are done (the first four), which are partly done, and which are not done: Granger, the rate card, the load test and Docker.</a:t>
            </a:r>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4</a:t>
            </a:fld>
            <a:endParaRPr lang="en-US"/>
          </a:p>
        </p:txBody>
      </p:sp>
    </p:spTree>
    <p:extLst>
      <p:ext uri="{BB962C8B-B14F-4D97-AF65-F5344CB8AC3E}">
        <p14:creationId xmlns:p14="http://schemas.microsoft.com/office/powerpoint/2010/main" val="32257309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C449A-5201-CC7D-2628-41F5EFD10B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19807-78FE-CE28-4D49-3B77EAD73F58}"/>
              </a:ext>
            </a:extLst>
          </p:cNvPr>
          <p:cNvSpPr>
            <a:spLocks noGrp="1" noRot="1" noChangeAspect="1"/>
          </p:cNvSpPr>
          <p:nvPr>
            <p:ph type="sldImg"/>
          </p:nvPr>
        </p:nvSpPr>
        <p:spPr>
          <a:xfrm>
            <a:off x="407988" y="696913"/>
            <a:ext cx="6196012" cy="3486150"/>
          </a:xfrm>
        </p:spPr>
      </p:sp>
      <p:sp>
        <p:nvSpPr>
          <p:cNvPr id="3" name="Notes Placeholder 2">
            <a:extLst>
              <a:ext uri="{FF2B5EF4-FFF2-40B4-BE49-F238E27FC236}">
                <a16:creationId xmlns:a16="http://schemas.microsoft.com/office/drawing/2014/main" id="{4158A6CE-3FDF-31EA-638A-292044A8B888}"/>
              </a:ext>
            </a:extLst>
          </p:cNvPr>
          <p:cNvSpPr>
            <a:spLocks noGrp="1"/>
          </p:cNvSpPr>
          <p:nvPr>
            <p:ph type="body" idx="1"/>
          </p:nvPr>
        </p:nvSpPr>
        <p:spPr/>
        <p:txBody>
          <a:bodyPr>
            <a:normAutofit/>
          </a:bodyPr>
          <a:lstStyle/>
          <a:p>
            <a:r>
              <a:t>Walk the five modules top to bottom: collection, feature staging, the GNN dual framework, fusion, and the API. The next slide lists what changed in each module since this diagram was drawn.</a:t>
            </a:r>
          </a:p>
        </p:txBody>
      </p:sp>
      <p:sp>
        <p:nvSpPr>
          <p:cNvPr id="4" name="Slide Number Placeholder 3">
            <a:extLst>
              <a:ext uri="{FF2B5EF4-FFF2-40B4-BE49-F238E27FC236}">
                <a16:creationId xmlns:a16="http://schemas.microsoft.com/office/drawing/2014/main" id="{09E8687F-D3EA-6227-4365-ACA80893300E}"/>
              </a:ext>
            </a:extLst>
          </p:cNvPr>
          <p:cNvSpPr>
            <a:spLocks noGrp="1"/>
          </p:cNvSpPr>
          <p:nvPr>
            <p:ph type="sldNum" sz="quarter" idx="10"/>
          </p:nvPr>
        </p:nvSpPr>
        <p:spPr/>
        <p:txBody>
          <a:bodyPr/>
          <a:lstStyle/>
          <a:p>
            <a:pPr>
              <a:defRPr/>
            </a:pPr>
            <a:fld id="{01C81575-24DE-4F6C-A73E-0331B3B2E418}" type="slidenum">
              <a:rPr lang="en-US" smtClean="0"/>
              <a:pPr>
                <a:defRPr/>
              </a:pPr>
              <a:t>5</a:t>
            </a:fld>
            <a:endParaRPr lang="en-US"/>
          </a:p>
        </p:txBody>
      </p:sp>
    </p:spTree>
    <p:extLst>
      <p:ext uri="{BB962C8B-B14F-4D97-AF65-F5344CB8AC3E}">
        <p14:creationId xmlns:p14="http://schemas.microsoft.com/office/powerpoint/2010/main" val="185242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r>
              <a:t>Modules 1 and 2. The point to land: the data is collected automatically every day, and every correction is backed up so it can be undone.</a:t>
            </a:r>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6</a:t>
            </a:fld>
            <a:endParaRPr lang="en-US"/>
          </a:p>
        </p:txBody>
      </p:sp>
    </p:spTree>
    <p:extLst>
      <p:ext uri="{BB962C8B-B14F-4D97-AF65-F5344CB8AC3E}">
        <p14:creationId xmlns:p14="http://schemas.microsoft.com/office/powerpoint/2010/main" val="3225730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r>
              <a:t>Why these methods: unit tests protect each module, the browser check protects the integration, and the data and statistical validation protect the claims, which matter most in a project with little labelled data.</a:t>
            </a:r>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8</a:t>
            </a:fld>
            <a:endParaRPr lang="en-US"/>
          </a:p>
        </p:txBody>
      </p:sp>
    </p:spTree>
    <p:extLst>
      <p:ext uri="{BB962C8B-B14F-4D97-AF65-F5344CB8AC3E}">
        <p14:creationId xmlns:p14="http://schemas.microsoft.com/office/powerpoint/2010/main" val="3225730922"/>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We built a complete pipeline from data to a web app, and today we show what is real, what is validated and what is still open. We state the limits ourselves.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keeps the architecture diagram honest: the structure is unchanged, the content of each module is much richer.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GAIL is Eesha's model. Our contribution is the data that feeds it and the tests that check it. Say that the training retrain is next, and that we judge it only on held-out creators.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temporal branch. Sentiment is tested per language. Lag uses a placebo and a positive control so that a null result is believable.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Fusion and the app. The weights are a stated prior because there are not enough labelled outcomes to fit them, and the app shows each score with its basis and range.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this live from the app. The screenshots are real. Keep the backend started a minute before the demo, because the CLIP and BERT models load on startup.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open about the gaps: load, security and Docker are not done. The GAIL acceptance check is rerun on the new checkpoint.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reliable labels. Observed: strong tiers yes, weak tiers uncertain. The deviation is honest and we corrected an earlier 91% figure that mixed assumed rows with checked ones.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left chart as a SIMULATED check: a planted effect on the real network. The right table is real data only. The honest summary is that we find no broad spillover and we can show our test would have found 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is complete as a pipeline. The open items are the final GAIL retraining and the hardening tasks that come after.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takeaway: a complete, honest pipeline, a clearer graph, and a clear plan.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are in IEEE style. Page numbers are omitted where we were not certain of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13C8-F183-1D43-AE77-BF9BD4D2AE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7AF752-0EC0-CF4D-965A-5129A91359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E32540-0688-DC4A-809A-52FB3313D316}"/>
              </a:ext>
            </a:extLst>
          </p:cNvPr>
          <p:cNvSpPr>
            <a:spLocks noGrp="1"/>
          </p:cNvSpPr>
          <p:nvPr>
            <p:ph type="dt" sz="half" idx="10"/>
          </p:nvPr>
        </p:nvSpPr>
        <p:spPr/>
        <p:txBody>
          <a:bodyPr/>
          <a:lstStyle/>
          <a:p>
            <a:fld id="{2D1A7037-0853-0447-B5BA-F1548123F733}" type="datetimeFigureOut">
              <a:rPr lang="en-US" smtClean="0"/>
              <a:pPr/>
              <a:t>10/17/2026</a:t>
            </a:fld>
            <a:endParaRPr lang="en-US"/>
          </a:p>
        </p:txBody>
      </p:sp>
      <p:sp>
        <p:nvSpPr>
          <p:cNvPr id="5" name="Footer Placeholder 4">
            <a:extLst>
              <a:ext uri="{FF2B5EF4-FFF2-40B4-BE49-F238E27FC236}">
                <a16:creationId xmlns:a16="http://schemas.microsoft.com/office/drawing/2014/main" id="{0F2CA43E-0611-D047-BC7B-31F920B659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E4123-5713-BC41-BBD0-42ADF35D9634}"/>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92070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DED43-C903-1F44-A779-40DF9AEFDE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9975D8-34AD-544B-B0E2-83FA77D2FA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24DD5-B8E0-534E-B68A-EF415575E505}"/>
              </a:ext>
            </a:extLst>
          </p:cNvPr>
          <p:cNvSpPr>
            <a:spLocks noGrp="1"/>
          </p:cNvSpPr>
          <p:nvPr>
            <p:ph type="dt" sz="half" idx="10"/>
          </p:nvPr>
        </p:nvSpPr>
        <p:spPr/>
        <p:txBody>
          <a:bodyPr/>
          <a:lstStyle/>
          <a:p>
            <a:fld id="{2D1A7037-0853-0447-B5BA-F1548123F733}" type="datetimeFigureOut">
              <a:rPr lang="en-US" smtClean="0"/>
              <a:pPr/>
              <a:t>10/17/2026</a:t>
            </a:fld>
            <a:endParaRPr lang="en-US"/>
          </a:p>
        </p:txBody>
      </p:sp>
      <p:sp>
        <p:nvSpPr>
          <p:cNvPr id="5" name="Footer Placeholder 4">
            <a:extLst>
              <a:ext uri="{FF2B5EF4-FFF2-40B4-BE49-F238E27FC236}">
                <a16:creationId xmlns:a16="http://schemas.microsoft.com/office/drawing/2014/main" id="{45096688-5BB1-5E48-BD14-BBC9FA67D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C407C-3003-DB44-98B5-0DEC6272B11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12291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630D-09E2-0742-AED8-D3F732546C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5B2CD3-A564-8044-A4EC-7EBA262987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2A64EE-79C1-8B46-BA9C-199117C7B485}"/>
              </a:ext>
            </a:extLst>
          </p:cNvPr>
          <p:cNvSpPr>
            <a:spLocks noGrp="1"/>
          </p:cNvSpPr>
          <p:nvPr>
            <p:ph type="dt" sz="half" idx="10"/>
          </p:nvPr>
        </p:nvSpPr>
        <p:spPr/>
        <p:txBody>
          <a:bodyPr/>
          <a:lstStyle/>
          <a:p>
            <a:fld id="{2D1A7037-0853-0447-B5BA-F1548123F733}" type="datetimeFigureOut">
              <a:rPr lang="en-US" smtClean="0"/>
              <a:pPr/>
              <a:t>10/17/2026</a:t>
            </a:fld>
            <a:endParaRPr lang="en-US"/>
          </a:p>
        </p:txBody>
      </p:sp>
      <p:sp>
        <p:nvSpPr>
          <p:cNvPr id="5" name="Footer Placeholder 4">
            <a:extLst>
              <a:ext uri="{FF2B5EF4-FFF2-40B4-BE49-F238E27FC236}">
                <a16:creationId xmlns:a16="http://schemas.microsoft.com/office/drawing/2014/main" id="{A851AAB2-DA47-AE48-A088-6FC7C16945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8FF9C-19C9-FA46-8C21-74202499420D}"/>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71791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CBAF5-C913-024F-8BE6-64C58F9702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5E6DB7-D3D7-1443-A583-8730715E2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CEB82F-3E99-7441-9B06-6D7C2156AB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26D282-1572-D344-87D1-785DA8576020}"/>
              </a:ext>
            </a:extLst>
          </p:cNvPr>
          <p:cNvSpPr>
            <a:spLocks noGrp="1"/>
          </p:cNvSpPr>
          <p:nvPr>
            <p:ph type="dt" sz="half" idx="10"/>
          </p:nvPr>
        </p:nvSpPr>
        <p:spPr/>
        <p:txBody>
          <a:bodyPr/>
          <a:lstStyle/>
          <a:p>
            <a:fld id="{2D1A7037-0853-0447-B5BA-F1548123F733}" type="datetimeFigureOut">
              <a:rPr lang="en-US" smtClean="0"/>
              <a:pPr/>
              <a:t>10/17/2026</a:t>
            </a:fld>
            <a:endParaRPr lang="en-US"/>
          </a:p>
        </p:txBody>
      </p:sp>
      <p:sp>
        <p:nvSpPr>
          <p:cNvPr id="6" name="Footer Placeholder 5">
            <a:extLst>
              <a:ext uri="{FF2B5EF4-FFF2-40B4-BE49-F238E27FC236}">
                <a16:creationId xmlns:a16="http://schemas.microsoft.com/office/drawing/2014/main" id="{3723D760-065F-6442-AF7E-1A7AAFFCA9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BF4C15-EC3A-7E41-A2B3-D2AB7D70EB32}"/>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265704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2CC90-B8AE-8A46-A8A5-F7E8DA615E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E152C5-AA77-4B47-965C-21A00C1EEC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466F8D-3502-5242-9160-E1CDE38E0A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754302-8F9A-5648-9C5E-6D037F1C75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9FC9CD-8823-F145-9952-EFBA9ACD2E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5EF4D9-655F-4842-A6B8-D44A050122B8}"/>
              </a:ext>
            </a:extLst>
          </p:cNvPr>
          <p:cNvSpPr>
            <a:spLocks noGrp="1"/>
          </p:cNvSpPr>
          <p:nvPr>
            <p:ph type="dt" sz="half" idx="10"/>
          </p:nvPr>
        </p:nvSpPr>
        <p:spPr/>
        <p:txBody>
          <a:bodyPr/>
          <a:lstStyle/>
          <a:p>
            <a:fld id="{2D1A7037-0853-0447-B5BA-F1548123F733}" type="datetimeFigureOut">
              <a:rPr lang="en-US" smtClean="0"/>
              <a:pPr/>
              <a:t>10/17/2026</a:t>
            </a:fld>
            <a:endParaRPr lang="en-US"/>
          </a:p>
        </p:txBody>
      </p:sp>
      <p:sp>
        <p:nvSpPr>
          <p:cNvPr id="8" name="Footer Placeholder 7">
            <a:extLst>
              <a:ext uri="{FF2B5EF4-FFF2-40B4-BE49-F238E27FC236}">
                <a16:creationId xmlns:a16="http://schemas.microsoft.com/office/drawing/2014/main" id="{08E68A74-725F-8F40-8F80-E96287703E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D868FA-8565-A740-9B9C-B3CD6AB33570}"/>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1827854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DFCE3-1C1E-7448-AF7E-5E46BB1408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19D5C9-50F6-8546-8D8C-AFACC1BC1B4F}"/>
              </a:ext>
            </a:extLst>
          </p:cNvPr>
          <p:cNvSpPr>
            <a:spLocks noGrp="1"/>
          </p:cNvSpPr>
          <p:nvPr>
            <p:ph type="dt" sz="half" idx="10"/>
          </p:nvPr>
        </p:nvSpPr>
        <p:spPr/>
        <p:txBody>
          <a:bodyPr/>
          <a:lstStyle/>
          <a:p>
            <a:fld id="{2D1A7037-0853-0447-B5BA-F1548123F733}" type="datetimeFigureOut">
              <a:rPr lang="en-US" smtClean="0"/>
              <a:pPr/>
              <a:t>10/17/2026</a:t>
            </a:fld>
            <a:endParaRPr lang="en-US"/>
          </a:p>
        </p:txBody>
      </p:sp>
      <p:sp>
        <p:nvSpPr>
          <p:cNvPr id="4" name="Footer Placeholder 3">
            <a:extLst>
              <a:ext uri="{FF2B5EF4-FFF2-40B4-BE49-F238E27FC236}">
                <a16:creationId xmlns:a16="http://schemas.microsoft.com/office/drawing/2014/main" id="{1DEA0D0C-FCAF-4F4C-AAF5-C9B78C03C4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68836A-EEA3-7347-A63C-8E66DF7B345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602287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A43C1-2303-5A41-B234-90D15E2A4B17}"/>
              </a:ext>
            </a:extLst>
          </p:cNvPr>
          <p:cNvSpPr>
            <a:spLocks noGrp="1"/>
          </p:cNvSpPr>
          <p:nvPr>
            <p:ph type="dt" sz="half" idx="10"/>
          </p:nvPr>
        </p:nvSpPr>
        <p:spPr/>
        <p:txBody>
          <a:bodyPr/>
          <a:lstStyle/>
          <a:p>
            <a:fld id="{2D1A7037-0853-0447-B5BA-F1548123F733}" type="datetimeFigureOut">
              <a:rPr lang="en-US" smtClean="0"/>
              <a:pPr/>
              <a:t>10/17/2026</a:t>
            </a:fld>
            <a:endParaRPr lang="en-US"/>
          </a:p>
        </p:txBody>
      </p:sp>
      <p:sp>
        <p:nvSpPr>
          <p:cNvPr id="3" name="Footer Placeholder 2">
            <a:extLst>
              <a:ext uri="{FF2B5EF4-FFF2-40B4-BE49-F238E27FC236}">
                <a16:creationId xmlns:a16="http://schemas.microsoft.com/office/drawing/2014/main" id="{9EA77971-B281-6149-9884-0E9C45F816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D0F6F3-1061-E842-B540-6BD0D6CB8D59}"/>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873732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B970D-13D5-B346-968D-400B0BCCF6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19FFE0-37CD-7644-A007-76E5304F12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210BE7-EA92-B44F-9EEC-94E6F6955C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6D810-D2A1-B549-A5BC-25CCA5CDCD3C}"/>
              </a:ext>
            </a:extLst>
          </p:cNvPr>
          <p:cNvSpPr>
            <a:spLocks noGrp="1"/>
          </p:cNvSpPr>
          <p:nvPr>
            <p:ph type="dt" sz="half" idx="10"/>
          </p:nvPr>
        </p:nvSpPr>
        <p:spPr/>
        <p:txBody>
          <a:bodyPr/>
          <a:lstStyle/>
          <a:p>
            <a:fld id="{2D1A7037-0853-0447-B5BA-F1548123F733}" type="datetimeFigureOut">
              <a:rPr lang="en-US" smtClean="0"/>
              <a:pPr/>
              <a:t>10/17/2026</a:t>
            </a:fld>
            <a:endParaRPr lang="en-US"/>
          </a:p>
        </p:txBody>
      </p:sp>
      <p:sp>
        <p:nvSpPr>
          <p:cNvPr id="6" name="Footer Placeholder 5">
            <a:extLst>
              <a:ext uri="{FF2B5EF4-FFF2-40B4-BE49-F238E27FC236}">
                <a16:creationId xmlns:a16="http://schemas.microsoft.com/office/drawing/2014/main" id="{6AD872D2-2005-3043-A02D-3E2DB9334E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F9F01D-1164-4249-AD67-1D51D33C01DC}"/>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580386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D3B30-2A71-A043-9BD7-3B8C66BF7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2B08A9-6B45-4340-8859-996D9B9490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6B1F4B2-96C1-614B-9110-8D1AEE080D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7DF3EB-6252-5845-AE7D-FB94ECF9F136}"/>
              </a:ext>
            </a:extLst>
          </p:cNvPr>
          <p:cNvSpPr>
            <a:spLocks noGrp="1"/>
          </p:cNvSpPr>
          <p:nvPr>
            <p:ph type="dt" sz="half" idx="10"/>
          </p:nvPr>
        </p:nvSpPr>
        <p:spPr/>
        <p:txBody>
          <a:bodyPr/>
          <a:lstStyle/>
          <a:p>
            <a:fld id="{2D1A7037-0853-0447-B5BA-F1548123F733}" type="datetimeFigureOut">
              <a:rPr lang="en-US" smtClean="0"/>
              <a:pPr/>
              <a:t>10/17/2026</a:t>
            </a:fld>
            <a:endParaRPr lang="en-US"/>
          </a:p>
        </p:txBody>
      </p:sp>
      <p:sp>
        <p:nvSpPr>
          <p:cNvPr id="6" name="Footer Placeholder 5">
            <a:extLst>
              <a:ext uri="{FF2B5EF4-FFF2-40B4-BE49-F238E27FC236}">
                <a16:creationId xmlns:a16="http://schemas.microsoft.com/office/drawing/2014/main" id="{D2D65DB7-EFE7-7446-8DEC-69F1FB47AE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A0E09F-0F32-5644-881A-A61CD82461E5}"/>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50459444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6E61B7-8DCD-1544-BC5D-B4592F60C6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AB61D9-7FB3-1343-9555-936FC6036D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2A79E-2DF5-4E41-BDCF-90E9D26B7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1A7037-0853-0447-B5BA-F1548123F733}" type="datetimeFigureOut">
              <a:rPr lang="en-US" smtClean="0"/>
              <a:pPr/>
              <a:t>10/17/2026</a:t>
            </a:fld>
            <a:endParaRPr lang="en-US"/>
          </a:p>
        </p:txBody>
      </p:sp>
      <p:sp>
        <p:nvSpPr>
          <p:cNvPr id="5" name="Footer Placeholder 4">
            <a:extLst>
              <a:ext uri="{FF2B5EF4-FFF2-40B4-BE49-F238E27FC236}">
                <a16:creationId xmlns:a16="http://schemas.microsoft.com/office/drawing/2014/main" id="{556D5DC5-E1CB-B84F-BCAB-EB319B3718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9712A2C-5C91-4B43-A114-209348A10C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F0E29-F314-934F-92DB-8EEB8DA68833}" type="slidenum">
              <a:rPr lang="en-US" smtClean="0"/>
              <a:pPr/>
              <a:t>‹#›</a:t>
            </a:fld>
            <a:endParaRPr lang="en-US"/>
          </a:p>
        </p:txBody>
      </p:sp>
      <p:pic>
        <p:nvPicPr>
          <p:cNvPr id="7" name="Picture 6" descr="PESSAT - All India Online Entrance Exam for Admission to PES University">
            <a:extLst>
              <a:ext uri="{FF2B5EF4-FFF2-40B4-BE49-F238E27FC236}">
                <a16:creationId xmlns:a16="http://schemas.microsoft.com/office/drawing/2014/main" id="{3728FDCA-2BCC-C6D2-944C-DE172626AE8A}"/>
              </a:ext>
            </a:extLst>
          </p:cNvPr>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0772775" y="339725"/>
            <a:ext cx="1162050"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383200"/>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notesSlide" Target="../notesSlides/notes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33600" y="914400"/>
            <a:ext cx="7924800" cy="1446550"/>
          </a:xfrm>
          <a:prstGeom prst="rect">
            <a:avLst/>
          </a:prstGeom>
        </p:spPr>
        <p:txBody>
          <a:bodyPr wrap="square">
            <a:spAutoFit/>
          </a:bodyPr>
          <a:lstStyle/>
          <a:p>
            <a:pPr algn="ctr"/>
            <a:r>
              <a:rPr lang="en-US" sz="2800" dirty="0">
                <a:latin typeface="Trebuchet MS" pitchFamily="34" charset="0"/>
              </a:rPr>
              <a:t>UE23CS441A –Project Phase – 3</a:t>
            </a:r>
          </a:p>
          <a:p>
            <a:pPr algn="ctr"/>
            <a:endParaRPr lang="en-US" sz="2800" dirty="0">
              <a:latin typeface="Trebuchet MS" pitchFamily="34" charset="0"/>
            </a:endParaRPr>
          </a:p>
          <a:p>
            <a:pPr algn="ctr"/>
            <a:r>
              <a:rPr lang="en-US" sz="3200" b="1" dirty="0">
                <a:solidFill>
                  <a:srgbClr val="FF0000"/>
                </a:solidFill>
                <a:latin typeface="Trebuchet MS" pitchFamily="34" charset="0"/>
              </a:rPr>
              <a:t>Project Progress Review #3</a:t>
            </a:r>
          </a:p>
        </p:txBody>
      </p:sp>
      <p:sp>
        <p:nvSpPr>
          <p:cNvPr id="4" name="Google Shape;26;p3"/>
          <p:cNvSpPr txBox="1"/>
          <p:nvPr/>
        </p:nvSpPr>
        <p:spPr>
          <a:xfrm>
            <a:off x="1866900" y="3246120"/>
            <a:ext cx="8458200" cy="3017520"/>
          </a:xfrm>
          <a:prstGeom prst="rect">
            <a:avLst/>
          </a:prstGeom>
          <a:noFill/>
          <a:ln>
            <a:noFill/>
          </a:ln>
        </p:spPr>
        <p:txBody>
          <a:bodyPr spcFirstLastPara="1" wrap="square" lIns="91425" tIns="45700" rIns="91425" bIns="45700" anchor="t" anchorCtr="0">
            <a:noAutofit/>
          </a:bodyPr>
          <a:lstStyle/>
          <a:p>
            <a:pPr>
              <a:spcBef>
                <a:spcPts val="0"/>
              </a:spcBef>
              <a:spcAft>
                <a:spcPts val="0"/>
              </a:spcAft>
            </a:pPr>
            <a:r>
              <a:rPr lang="en-US" sz="1800" dirty="0">
                <a:solidFill>
                  <a:srgbClr val="0033CC"/>
                </a:solidFill>
                <a:latin typeface="Trebuchet MS"/>
                <a:ea typeface="Trebuchet MS"/>
                <a:cs typeface="Trebuchet MS"/>
                <a:sym typeface="Trebuchet MS"/>
              </a:rPr>
              <a:t>Project Title : Influencer-Brand Matching via GAIL &amp; Graph Spillover</a:t>
            </a:r>
            <a:endParaRPr sz="2400" dirty="0">
              <a:solidFill>
                <a:srgbClr val="0033CC"/>
              </a:solidFill>
              <a:latin typeface="Trebuchet MS"/>
              <a:ea typeface="Trebuchet MS"/>
              <a:cs typeface="Trebuchet MS"/>
              <a:sym typeface="Trebuchet MS"/>
            </a:endParaRPr>
          </a:p>
          <a:p>
            <a:pPr>
              <a:spcBef>
                <a:spcPts val="0"/>
              </a:spcBef>
              <a:spcAft>
                <a:spcPts val="0"/>
              </a:spcAft>
              <a:buClr>
                <a:schemeClr val="dk1"/>
              </a:buClr>
            </a:pPr>
            <a:r>
              <a:rPr lang="en-US" sz="1800" dirty="0">
                <a:solidFill>
                  <a:srgbClr val="0033CC"/>
                </a:solidFill>
                <a:latin typeface="Trebuchet MS"/>
                <a:ea typeface="Trebuchet MS"/>
                <a:cs typeface="Trebuchet MS"/>
                <a:sym typeface="Trebuchet MS"/>
              </a:rPr>
              <a:t>Project ID : 011</a:t>
            </a:r>
            <a:endParaRPr sz="2400" dirty="0">
              <a:solidFill>
                <a:srgbClr val="0033CC"/>
              </a:solidFill>
              <a:latin typeface="Trebuchet MS"/>
              <a:ea typeface="Trebuchet MS"/>
              <a:cs typeface="Trebuchet MS"/>
              <a:sym typeface="Trebuchet MS"/>
            </a:endParaRPr>
          </a:p>
          <a:p>
            <a:pPr>
              <a:spcBef>
                <a:spcPts val="0"/>
              </a:spcBef>
              <a:spcAft>
                <a:spcPts val="0"/>
              </a:spcAft>
            </a:pPr>
            <a:r>
              <a:rPr lang="en-US" sz="1800" dirty="0">
                <a:solidFill>
                  <a:srgbClr val="0033CC"/>
                </a:solidFill>
                <a:latin typeface="Trebuchet MS"/>
                <a:ea typeface="Trebuchet MS"/>
                <a:cs typeface="Trebuchet MS"/>
                <a:sym typeface="Trebuchet MS"/>
              </a:rPr>
              <a:t>Project Guide : Dr. Vishnu Tiwari</a:t>
            </a:r>
            <a:endParaRPr sz="2400" dirty="0">
              <a:solidFill>
                <a:srgbClr val="0033CC"/>
              </a:solidFill>
              <a:latin typeface="Trebuchet MS"/>
              <a:ea typeface="Trebuchet MS"/>
              <a:cs typeface="Trebuchet MS"/>
              <a:sym typeface="Trebuchet MS"/>
            </a:endParaRPr>
          </a:p>
          <a:p>
            <a:pPr>
              <a:spcBef>
                <a:spcPts val="0"/>
              </a:spcBef>
              <a:spcAft>
                <a:spcPts val="0"/>
              </a:spcAft>
            </a:pPr>
            <a:r>
              <a:rPr lang="en-US" sz="1800" dirty="0">
                <a:solidFill>
                  <a:srgbClr val="0033CC"/>
                </a:solidFill>
                <a:latin typeface="Trebuchet MS"/>
                <a:ea typeface="Trebuchet MS"/>
                <a:cs typeface="Trebuchet MS"/>
                <a:sym typeface="Trebuchet MS"/>
              </a:rPr>
              <a:t>Project Team :</a:t>
            </a:r>
            <a:endParaRPr sz="2000" dirty="0">
              <a:solidFill>
                <a:srgbClr val="0033CC"/>
              </a:solidFill>
            </a:endParaRPr>
          </a:p>
          <a:p>
            <a:pPr>
              <a:spcBef>
                <a:spcPts val="0"/>
              </a:spcBef>
              <a:spcAft>
                <a:spcPts val="0"/>
              </a:spcAft>
            </a:pPr>
            <a:r>
              <a:rPr lang="en-US" sz="1600" dirty="0">
                <a:solidFill>
                  <a:srgbClr val="0033CC"/>
                </a:solidFill>
                <a:latin typeface="Trebuchet MS"/>
                <a:ea typeface="Trebuchet MS"/>
                <a:cs typeface="Trebuchet MS"/>
                <a:sym typeface="Trebuchet MS"/>
              </a:rPr>
              <a:t>      Shimona Sinha (PES2UG23CS547)</a:t>
            </a:r>
            <a:endParaRPr sz="2000" dirty="0">
              <a:solidFill>
                <a:srgbClr val="0033CC"/>
              </a:solidFill>
            </a:endParaRPr>
          </a:p>
          <a:p>
            <a:pPr>
              <a:spcBef>
                <a:spcPts val="0"/>
              </a:spcBef>
              <a:spcAft>
                <a:spcPts val="0"/>
              </a:spcAft>
            </a:pPr>
            <a:r>
              <a:rPr lang="en-US" sz="1600" dirty="0">
                <a:solidFill>
                  <a:srgbClr val="0033CC"/>
                </a:solidFill>
                <a:latin typeface="Trebuchet MS"/>
                <a:ea typeface="Trebuchet MS"/>
                <a:cs typeface="Trebuchet MS"/>
                <a:sym typeface="Trebuchet MS"/>
              </a:rPr>
              <a:t>      Akshat Navlani (PES2UG23AM009)</a:t>
            </a:r>
            <a:endParaRPr sz="2000" dirty="0">
              <a:solidFill>
                <a:srgbClr val="0033CC"/>
              </a:solidFill>
            </a:endParaRPr>
          </a:p>
          <a:p>
            <a:pPr>
              <a:spcBef>
                <a:spcPts val="0"/>
              </a:spcBef>
              <a:spcAft>
                <a:spcPts val="0"/>
              </a:spcAft>
            </a:pPr>
            <a:r>
              <a:rPr lang="en-US" sz="1600" dirty="0">
                <a:solidFill>
                  <a:srgbClr val="0033CC"/>
                </a:solidFill>
                <a:latin typeface="Trebuchet MS"/>
                <a:ea typeface="Trebuchet MS"/>
                <a:cs typeface="Trebuchet MS"/>
                <a:sym typeface="Trebuchet MS"/>
              </a:rPr>
              <a:t>      Eesha Shah (PES2UG23AM034)</a:t>
            </a:r>
            <a:endParaRPr sz="2000" dirty="0">
              <a:solidFill>
                <a:srgbClr val="0033CC"/>
              </a:solidFill>
            </a:endParaRPr>
          </a:p>
          <a:p>
            <a:pPr>
              <a:spcBef>
                <a:spcPts val="0"/>
              </a:spcBef>
              <a:spcAft>
                <a:spcPts val="0"/>
              </a:spcAft>
            </a:pPr>
            <a:r>
              <a:rPr lang="en-US" sz="1600" dirty="0">
                <a:solidFill>
                  <a:srgbClr val="0033CC"/>
                </a:solidFill>
                <a:latin typeface="Trebuchet MS"/>
                <a:ea typeface="Trebuchet MS"/>
                <a:cs typeface="Trebuchet MS"/>
                <a:sym typeface="Trebuchet MS"/>
              </a:rPr>
              <a:t>      Abhyudyay Agrawal (PES2UG23AM003)</a:t>
            </a:r>
            <a:endParaRPr sz="2000" dirty="0">
              <a:solidFill>
                <a:srgbClr val="0033C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1600200" y="1828800"/>
            <a:ext cx="9448800" cy="4572000"/>
          </a:xfrm>
          <a:prstGeom prst="rect">
            <a:avLst/>
          </a:prstGeom>
        </p:spPr>
        <p:txBody>
          <a:bodyPr/>
          <a:lstStyle/>
          <a:p>
            <a:pPr marL="685791" indent="-342900" algn="just" eaLnBrk="0" hangingPunct="0">
              <a:spcBef>
                <a:spcPct val="20000"/>
              </a:spcBef>
              <a:buFont typeface="Arial" panose="020B0604020202020204" pitchFamily="34" charset="0"/>
              <a:buChar char="•"/>
              <a:defRPr/>
            </a:pPr>
            <a:endParaRPr lang="en-IN" sz="2000" kern="0" dirty="0">
              <a:solidFill>
                <a:srgbClr val="0000FF"/>
              </a:solidFill>
              <a:latin typeface="Trebuchet MS" pitchFamily="34" charset="0"/>
            </a:endParaRPr>
          </a:p>
          <a:p>
            <a:pPr marL="685791" indent="-342900" algn="just" eaLnBrk="0" hangingPunct="0">
              <a:spcBef>
                <a:spcPts val="0"/>
              </a:spcBef>
              <a:spcAft>
                <a:spcPts val="0"/>
              </a:spcAft>
              <a:buFont typeface="Wingdings" pitchFamily="2" charset="2"/>
              <a:buChar char="§"/>
              <a:defRPr/>
            </a:pPr>
            <a:r>
              <a:rPr lang="en-US" sz="2400" dirty="0">
                <a:solidFill>
                  <a:srgbClr val="0033CC"/>
                </a:solidFill>
                <a:latin typeface="Trebuchet MS"/>
                <a:ea typeface="Trebuchet MS"/>
                <a:cs typeface="Trebuchet MS"/>
                <a:sym typeface="Trebuchet MS"/>
              </a:rPr>
              <a:t>Abstract and Scope of the Project (1 slide)</a:t>
            </a:r>
          </a:p>
          <a:p>
            <a:pPr marL="685791" indent="-342900" algn="just" eaLnBrk="0" hangingPunct="0">
              <a:spcBef>
                <a:spcPts val="0"/>
              </a:spcBef>
              <a:spcAft>
                <a:spcPts val="0"/>
              </a:spcAft>
              <a:buFont typeface="Wingdings" pitchFamily="2" charset="2"/>
              <a:buChar char="§"/>
              <a:defRPr/>
            </a:pPr>
            <a:r>
              <a:rPr lang="en-US" sz="2400" dirty="0">
                <a:solidFill>
                  <a:srgbClr val="0033CC"/>
                </a:solidFill>
                <a:latin typeface="Trebuchet MS"/>
                <a:ea typeface="Trebuchet MS"/>
                <a:cs typeface="Trebuchet MS"/>
                <a:sym typeface="Trebuchet MS"/>
              </a:rPr>
              <a:t>Suggestions from Review – 1 &amp; 2 (1 slide)</a:t>
            </a:r>
          </a:p>
          <a:p>
            <a:pPr marL="685791" indent="-342900" algn="just" eaLnBrk="0" hangingPunct="0">
              <a:spcBef>
                <a:spcPts val="0"/>
              </a:spcBef>
              <a:spcAft>
                <a:spcPts val="0"/>
              </a:spcAft>
              <a:buFont typeface="Wingdings" pitchFamily="2" charset="2"/>
              <a:buChar char="§"/>
              <a:defRPr/>
            </a:pPr>
            <a:r>
              <a:rPr lang="en-US" sz="2400" dirty="0">
                <a:solidFill>
                  <a:srgbClr val="0033CC"/>
                </a:solidFill>
                <a:latin typeface="Trebuchet MS"/>
                <a:ea typeface="Trebuchet MS"/>
                <a:cs typeface="Trebuchet MS"/>
                <a:sym typeface="Trebuchet MS"/>
              </a:rPr>
              <a:t>Complete pipeline/Architecture of Project (max 2 slides)</a:t>
            </a:r>
          </a:p>
          <a:p>
            <a:pPr marL="685791" indent="-342900" algn="just" eaLnBrk="0" hangingPunct="0">
              <a:spcBef>
                <a:spcPts val="0"/>
              </a:spcBef>
              <a:spcAft>
                <a:spcPts val="0"/>
              </a:spcAft>
              <a:buFont typeface="Wingdings" pitchFamily="2" charset="2"/>
              <a:buChar char="§"/>
              <a:defRPr/>
            </a:pPr>
            <a:r>
              <a:rPr lang="en-US" sz="2400" dirty="0">
                <a:solidFill>
                  <a:srgbClr val="0033CC"/>
                </a:solidFill>
                <a:latin typeface="Trebuchet MS"/>
                <a:ea typeface="Trebuchet MS"/>
                <a:cs typeface="Trebuchet MS"/>
                <a:sym typeface="Trebuchet MS"/>
              </a:rPr>
              <a:t>Implementation Details (for each module) (max 4 slides)</a:t>
            </a:r>
          </a:p>
          <a:p>
            <a:pPr marL="685791" indent="-342900" algn="just" eaLnBrk="0" hangingPunct="0">
              <a:spcBef>
                <a:spcPts val="0"/>
              </a:spcBef>
              <a:spcAft>
                <a:spcPts val="0"/>
              </a:spcAft>
              <a:buFont typeface="Wingdings" pitchFamily="2" charset="2"/>
              <a:buChar char="§"/>
              <a:defRPr/>
            </a:pPr>
            <a:r>
              <a:rPr lang="en-US" sz="2400" dirty="0">
                <a:solidFill>
                  <a:srgbClr val="0033CC"/>
                </a:solidFill>
                <a:latin typeface="Trebuchet MS"/>
                <a:ea typeface="Trebuchet MS"/>
                <a:cs typeface="Trebuchet MS"/>
                <a:sym typeface="Trebuchet MS"/>
              </a:rPr>
              <a:t>Project Demonstration (keep the demo video ready)</a:t>
            </a:r>
          </a:p>
          <a:p>
            <a:pPr marL="685791" indent="-342900" algn="just" eaLnBrk="0" hangingPunct="0">
              <a:spcBef>
                <a:spcPts val="0"/>
              </a:spcBef>
              <a:spcAft>
                <a:spcPts val="0"/>
              </a:spcAft>
              <a:buFont typeface="Wingdings" pitchFamily="2" charset="2"/>
              <a:buChar char="§"/>
              <a:defRPr/>
            </a:pPr>
            <a:r>
              <a:rPr lang="en-US" sz="2400" dirty="0">
                <a:solidFill>
                  <a:srgbClr val="0033CC"/>
                </a:solidFill>
                <a:latin typeface="Trebuchet MS"/>
                <a:ea typeface="Trebuchet MS"/>
                <a:cs typeface="Trebuchet MS"/>
                <a:sym typeface="Trebuchet MS"/>
              </a:rPr>
              <a:t>Test Plan and Strategy (max 2 slide)</a:t>
            </a:r>
          </a:p>
          <a:p>
            <a:pPr marL="685791" indent="-342900" algn="just" eaLnBrk="0" hangingPunct="0">
              <a:spcBef>
                <a:spcPts val="0"/>
              </a:spcBef>
              <a:spcAft>
                <a:spcPts val="0"/>
              </a:spcAft>
              <a:buFont typeface="Wingdings" pitchFamily="2" charset="2"/>
              <a:buChar char="§"/>
              <a:defRPr/>
            </a:pPr>
            <a:r>
              <a:rPr lang="en-US" sz="2400" dirty="0">
                <a:solidFill>
                  <a:srgbClr val="0033CC"/>
                </a:solidFill>
                <a:latin typeface="Trebuchet MS"/>
                <a:ea typeface="Trebuchet MS"/>
                <a:cs typeface="Trebuchet MS"/>
                <a:sym typeface="Trebuchet MS"/>
              </a:rPr>
              <a:t>Results and Discussion (max 2 slides)</a:t>
            </a:r>
          </a:p>
          <a:p>
            <a:pPr marL="685791" indent="-342900" algn="just" eaLnBrk="0" hangingPunct="0">
              <a:spcBef>
                <a:spcPts val="0"/>
              </a:spcBef>
              <a:spcAft>
                <a:spcPts val="0"/>
              </a:spcAft>
              <a:buFont typeface="Wingdings" pitchFamily="2" charset="2"/>
              <a:buChar char="§"/>
              <a:defRPr/>
            </a:pPr>
            <a:r>
              <a:rPr lang="en-US" sz="2400" dirty="0">
                <a:solidFill>
                  <a:srgbClr val="0033CC"/>
                </a:solidFill>
                <a:latin typeface="Trebuchet MS"/>
                <a:ea typeface="Trebuchet MS"/>
                <a:cs typeface="Trebuchet MS"/>
                <a:sym typeface="Trebuchet MS"/>
              </a:rPr>
              <a:t>Conclusion and Future Work</a:t>
            </a:r>
          </a:p>
          <a:p>
            <a:pPr marL="685791" indent="-342900" algn="just" eaLnBrk="0" hangingPunct="0">
              <a:spcBef>
                <a:spcPts val="0"/>
              </a:spcBef>
              <a:spcAft>
                <a:spcPts val="0"/>
              </a:spcAft>
              <a:buFont typeface="Wingdings" pitchFamily="2" charset="2"/>
              <a:buChar char="§"/>
              <a:defRPr/>
            </a:pPr>
            <a:r>
              <a:rPr lang="en-US" sz="2400" dirty="0">
                <a:solidFill>
                  <a:srgbClr val="0033CC"/>
                </a:solidFill>
                <a:latin typeface="Trebuchet MS"/>
                <a:ea typeface="Trebuchet MS"/>
                <a:cs typeface="Trebuchet MS"/>
                <a:sym typeface="Trebuchet MS"/>
              </a:rPr>
              <a:t>References</a:t>
            </a:r>
          </a:p>
          <a:p>
            <a:pPr marL="685791" lvl="0" indent="-342900" algn="just" eaLnBrk="0" hangingPunct="0">
              <a:spcBef>
                <a:spcPts val="0"/>
              </a:spcBef>
              <a:spcAft>
                <a:spcPts val="0"/>
              </a:spcAft>
              <a:buFont typeface="Wingdings" pitchFamily="2" charset="2"/>
              <a:buChar char="§"/>
              <a:defRPr/>
            </a:pPr>
            <a:endParaRPr lang="en-US" sz="2400" dirty="0">
              <a:solidFill>
                <a:srgbClr val="0033CC"/>
              </a:solidFill>
              <a:latin typeface="Trebuchet MS"/>
              <a:ea typeface="Trebuchet MS"/>
              <a:cs typeface="Trebuchet MS"/>
              <a:sym typeface="Trebuchet MS"/>
            </a:endParaRPr>
          </a:p>
          <a:p>
            <a:pPr marL="685791" indent="-342900" algn="just" eaLnBrk="0" hangingPunct="0">
              <a:spcBef>
                <a:spcPts val="0"/>
              </a:spcBef>
              <a:spcAft>
                <a:spcPts val="0"/>
              </a:spcAft>
              <a:defRPr/>
            </a:pPr>
            <a:endParaRPr lang="en-US" sz="2400" dirty="0">
              <a:solidFill>
                <a:srgbClr val="0033CC"/>
              </a:solidFill>
              <a:latin typeface="Trebuchet MS"/>
              <a:ea typeface="Trebuchet MS"/>
              <a:cs typeface="Trebuchet MS"/>
              <a:sym typeface="Trebuchet MS"/>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Abstract and Scope</a:t>
            </a:r>
          </a:p>
        </p:txBody>
      </p:sp>
      <p:sp>
        <p:nvSpPr>
          <p:cNvPr id="15" name="abstract"/>
          <p:cNvSpPr txBox="1"/>
          <p:nvPr/>
        </p:nvSpPr>
        <p:spPr>
          <a:xfrm>
            <a:off x="731520" y="1828800"/>
            <a:ext cx="10698480" cy="4480560"/>
          </a:xfrm>
          <a:prstGeom prst="rect">
            <a:avLst/>
          </a:prstGeom>
          <a:noFill/>
        </p:spPr>
        <p:txBody>
          <a:bodyPr wrap="square" lIns="0" rIns="0" tIns="0" bIns="0" anchor="t">
            <a:spAutoFit/>
          </a:bodyPr>
          <a:lstStyle/>
          <a:p>
            <a:pPr algn="l" marL="274320" indent="-274320">
              <a:spcAft>
                <a:spcPts val="1100"/>
              </a:spcAft>
              <a:buFont typeface="Wingdings" pitchFamily="2" charset="2"/>
              <a:buChar char="§"/>
            </a:pPr>
            <a:r>
              <a:rPr sz="1600" b="1">
                <a:solidFill>
                  <a:srgbClr val="0033CC"/>
                </a:solidFill>
                <a:latin typeface="Trebuchet MS"/>
              </a:rPr>
              <a:t>Problem: </a:t>
            </a:r>
            <a:r>
              <a:rPr sz="1600" b="0">
                <a:solidFill>
                  <a:srgbClr val="0033CC"/>
                </a:solidFill>
                <a:latin typeface="Trebuchet MS"/>
              </a:rPr>
              <a:t>brands pick influencers by follower count and gut feel, and miss spillover: when a creator is sponsored, the audiences of the creators connected to them react too.</a:t>
            </a:r>
          </a:p>
          <a:p>
            <a:pPr algn="l" marL="274320" indent="-274320">
              <a:spcAft>
                <a:spcPts val="1100"/>
              </a:spcAft>
              <a:buFont typeface="Wingdings" pitchFamily="2" charset="2"/>
              <a:buChar char="§"/>
            </a:pPr>
            <a:r>
              <a:rPr sz="1600" b="1">
                <a:solidFill>
                  <a:srgbClr val="0033CC"/>
                </a:solidFill>
                <a:latin typeface="Trebuchet MS"/>
              </a:rPr>
              <a:t>What we built: </a:t>
            </a:r>
            <a:r>
              <a:rPr sz="1600" b="0">
                <a:solidFill>
                  <a:srgbClr val="0033CC"/>
                </a:solidFill>
                <a:latin typeface="Trebuchet MS"/>
              </a:rPr>
              <a:t>a brand gives a product, budget and region; the system returns ranked creators with a 0 to 100 score, a confidence range and an explanation, in a web app and a REST API.</a:t>
            </a:r>
          </a:p>
          <a:p>
            <a:pPr algn="l" marL="274320" indent="-274320">
              <a:spcAft>
                <a:spcPts val="1100"/>
              </a:spcAft>
              <a:buFont typeface="Wingdings" pitchFamily="2" charset="2"/>
              <a:buChar char="§"/>
            </a:pPr>
            <a:r>
              <a:rPr sz="1600" b="1">
                <a:solidFill>
                  <a:srgbClr val="0033CC"/>
                </a:solidFill>
                <a:latin typeface="Trebuchet MS"/>
              </a:rPr>
              <a:t>Research part: </a:t>
            </a:r>
            <a:r>
              <a:rPr sz="1600" b="0">
                <a:solidFill>
                  <a:srgbClr val="0033CC"/>
                </a:solidFill>
                <a:latin typeface="Trebuchet MS"/>
              </a:rPr>
              <a:t>GAIL (Graph-Adaptive Interference Learning), a graph-attention model that learns which linked creators are exposed to a sponsorship; plus a temporal branch (comment sentiment, cross-platform lag), CLIP/BERT creator features, and a fusion layer.</a:t>
            </a:r>
          </a:p>
          <a:p>
            <a:pPr algn="l" marL="274320" indent="-274320">
              <a:spcAft>
                <a:spcPts val="1100"/>
              </a:spcAft>
              <a:buFont typeface="Wingdings" pitchFamily="2" charset="2"/>
              <a:buChar char="§"/>
            </a:pPr>
            <a:r>
              <a:rPr sz="1600" b="1">
                <a:solidFill>
                  <a:srgbClr val="0033CC"/>
                </a:solidFill>
                <a:latin typeface="Trebuchet MS"/>
              </a:rPr>
              <a:t>Scope: </a:t>
            </a:r>
            <a:r>
              <a:rPr sz="1600" b="0">
                <a:solidFill>
                  <a:srgbClr val="0033CC"/>
                </a:solidFill>
                <a:latin typeface="Trebuchet MS"/>
              </a:rPr>
              <a:t>150 verified Indian fitness creators on YouTube, Instagram and Reddit, from public data collected daily. Out of scope: real sales ROI (no sales data exists), public deployment.</a:t>
            </a:r>
          </a:p>
          <a:p>
            <a:pPr algn="l" marL="274320" indent="-274320">
              <a:spcAft>
                <a:spcPts val="1100"/>
              </a:spcAft>
              <a:buFont typeface="Wingdings" pitchFamily="2" charset="2"/>
              <a:buChar char="§"/>
            </a:pPr>
            <a:r>
              <a:rPr sz="1600" b="1">
                <a:solidFill>
                  <a:srgbClr val="0033CC"/>
                </a:solidFill>
                <a:latin typeface="Trebuchet MS"/>
              </a:rPr>
              <a:t>Framing: </a:t>
            </a:r>
            <a:r>
              <a:rPr sz="1600" b="0">
                <a:solidFill>
                  <a:srgbClr val="0033CC"/>
                </a:solidFill>
                <a:latin typeface="Trebuchet MS"/>
              </a:rPr>
              <a:t>a careful application of known causal-ML methods to a new domain. Results are exploratory and every claim is tested, with the limits stated.</a:t>
            </a:r>
          </a:p>
        </p:txBody>
      </p:sp>
    </p:spTree>
    <p:extLst>
      <p:ext uri="{BB962C8B-B14F-4D97-AF65-F5344CB8AC3E}">
        <p14:creationId xmlns:p14="http://schemas.microsoft.com/office/powerpoint/2010/main" val="3811030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2895600" y="990600"/>
            <a:ext cx="78486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Suggestions from Review – 1 &amp; 2</a:t>
            </a:r>
          </a:p>
        </p:txBody>
      </p:sp>
      <p:graphicFrame>
        <p:nvGraphicFramePr>
          <p:cNvPr id="15" name="review table"/>
          <p:cNvGraphicFramePr>
            <a:graphicFrameLocks noGrp="1"/>
          </p:cNvGraphicFramePr>
          <p:nvPr/>
        </p:nvGraphicFramePr>
        <p:xfrm>
          <a:off x="640080" y="1783080"/>
          <a:ext cx="10881360" cy="4096512"/>
        </p:xfrm>
        <a:graphic>
          <a:graphicData uri="http://schemas.openxmlformats.org/drawingml/2006/table">
            <a:tbl>
              <a:tblPr firstRow="1" bandRow="0">
                <a:tableStyleId>{2D5ABB26-0587-4C30-8999-92F81FD0307C}</a:tableStyleId>
              </a:tblPr>
              <a:tblGrid>
                <a:gridCol w="4206240"/>
                <a:gridCol w="6675120"/>
              </a:tblGrid>
              <a:tr h="512064">
                <a:tc>
                  <a:txBody>
                    <a:bodyPr wrap="square"/>
                    <a:lstStyle/>
                    <a:p>
                      <a:r>
                        <a:rPr sz="1200" b="1">
                          <a:solidFill>
                            <a:srgbClr val="FFFFFF"/>
                          </a:solidFill>
                          <a:latin typeface="Trebuchet MS"/>
                        </a:rPr>
                        <a:t>Open item from Review 1 / 2</a:t>
                      </a:r>
                    </a:p>
                  </a:txBody>
                  <a:tcPr marL="73152" marR="73152" marT="36576" marB="36576" anchor="ctr">
                    <a:solidFill>
                      <a:srgbClr val="0033CC"/>
                    </a:solidFill>
                  </a:tcPr>
                </a:tc>
                <a:tc>
                  <a:txBody>
                    <a:bodyPr wrap="square"/>
                    <a:lstStyle/>
                    <a:p>
                      <a:r>
                        <a:rPr sz="1200" b="1">
                          <a:solidFill>
                            <a:srgbClr val="FFFFFF"/>
                          </a:solidFill>
                          <a:latin typeface="Trebuchet MS"/>
                        </a:rPr>
                        <a:t>Feasibility and progress now</a:t>
                      </a:r>
                    </a:p>
                  </a:txBody>
                  <a:tcPr marL="73152" marR="73152" marT="36576" marB="36576" anchor="ctr">
                    <a:solidFill>
                      <a:srgbClr val="0033CC"/>
                    </a:solidFill>
                  </a:tcPr>
                </a:tc>
              </a:tr>
              <a:tr h="512064">
                <a:tc>
                  <a:txBody>
                    <a:bodyPr wrap="square"/>
                    <a:lstStyle/>
                    <a:p>
                      <a:r>
                        <a:rPr sz="1200" b="1">
                          <a:solidFill>
                            <a:srgbClr val="1B1B1B"/>
                          </a:solidFill>
                          <a:latin typeface="Trebuchet MS"/>
                        </a:rPr>
                        <a:t>GAIL was trained on only 10 labelled examples</a:t>
                      </a:r>
                    </a:p>
                  </a:txBody>
                  <a:tcPr marL="73152" marR="73152" marT="36576" marB="36576" anchor="ctr">
                    <a:solidFill>
                      <a:srgbClr val="E8EEFB"/>
                    </a:solidFill>
                  </a:tcPr>
                </a:tc>
                <a:tc>
                  <a:txBody>
                    <a:bodyPr wrap="square"/>
                    <a:lstStyle/>
                    <a:p>
                      <a:r>
                        <a:rPr sz="1200" b="0">
                          <a:solidFill>
                            <a:srgbClr val="1B1B1B"/>
                          </a:solidFill>
                          <a:latin typeface="Trebuchet MS"/>
                        </a:rPr>
                        <a:t>159 independent examples, 95 of 150 creators linked; retraining is the next step (Eesha)</a:t>
                      </a:r>
                    </a:p>
                  </a:txBody>
                  <a:tcPr marL="73152" marR="73152" marT="36576" marB="36576" anchor="ctr">
                    <a:solidFill>
                      <a:srgbClr val="E8EEFB"/>
                    </a:solidFill>
                  </a:tcPr>
                </a:tc>
              </a:tr>
              <a:tr h="512064">
                <a:tc>
                  <a:txBody>
                    <a:bodyPr wrap="square"/>
                    <a:lstStyle/>
                    <a:p>
                      <a:r>
                        <a:rPr sz="1200" b="1">
                          <a:solidFill>
                            <a:srgbClr val="1B1B1B"/>
                          </a:solidFill>
                          <a:latin typeface="Trebuchet MS"/>
                        </a:rPr>
                        <a:t>Sentiment and CLIP/BERT scores were 0.5 placeholders</a:t>
                      </a:r>
                    </a:p>
                  </a:txBody>
                  <a:tcPr marL="73152" marR="73152" marT="36576" marB="36576" anchor="ctr">
                    <a:solidFill>
                      <a:srgbClr val="FFFFFF"/>
                    </a:solidFill>
                  </a:tcPr>
                </a:tc>
                <a:tc>
                  <a:txBody>
                    <a:bodyPr wrap="square"/>
                    <a:lstStyle/>
                    <a:p>
                      <a:r>
                        <a:rPr sz="1200" b="0">
                          <a:solidFill>
                            <a:srgbClr val="1B1B1B"/>
                          </a:solidFill>
                          <a:latin typeface="Trebuchet MS"/>
                        </a:rPr>
                        <a:t>Real for 149 and 150 of 150 creators; Hindi-script comments use a multilingual model</a:t>
                      </a:r>
                    </a:p>
                  </a:txBody>
                  <a:tcPr marL="73152" marR="73152" marT="36576" marB="36576" anchor="ctr">
                    <a:solidFill>
                      <a:srgbClr val="FFFFFF"/>
                    </a:solidFill>
                  </a:tcPr>
                </a:tc>
              </a:tr>
              <a:tr h="512064">
                <a:tc>
                  <a:txBody>
                    <a:bodyPr wrap="square"/>
                    <a:lstStyle/>
                    <a:p>
                      <a:r>
                        <a:rPr sz="1200" b="1">
                          <a:solidFill>
                            <a:srgbClr val="1B1B1B"/>
                          </a:solidFill>
                          <a:latin typeface="Trebuchet MS"/>
                        </a:rPr>
                        <a:t>Fusion weights not calibrated</a:t>
                      </a:r>
                    </a:p>
                  </a:txBody>
                  <a:tcPr marL="73152" marR="73152" marT="36576" marB="36576" anchor="ctr">
                    <a:solidFill>
                      <a:srgbClr val="E8EEFB"/>
                    </a:solidFill>
                  </a:tcPr>
                </a:tc>
                <a:tc>
                  <a:txBody>
                    <a:bodyPr wrap="square"/>
                    <a:lstStyle/>
                    <a:p>
                      <a:r>
                        <a:rPr sz="1200" b="0">
                          <a:solidFill>
                            <a:srgbClr val="1B1B1B"/>
                          </a:solidFill>
                          <a:latin typeface="Trebuchet MS"/>
                        </a:rPr>
                        <a:t>Cannot be fitted (only 10 labelled outcomes): fixed prior 0.4/0.3/0.3, calibration report written</a:t>
                      </a:r>
                    </a:p>
                  </a:txBody>
                  <a:tcPr marL="73152" marR="73152" marT="36576" marB="36576" anchor="ctr">
                    <a:solidFill>
                      <a:srgbClr val="E8EEFB"/>
                    </a:solidFill>
                  </a:tcPr>
                </a:tc>
              </a:tr>
              <a:tr h="512064">
                <a:tc>
                  <a:txBody>
                    <a:bodyPr wrap="square"/>
                    <a:lstStyle/>
                    <a:p>
                      <a:r>
                        <a:rPr sz="1200" b="1">
                          <a:solidFill>
                            <a:srgbClr val="1B1B1B"/>
                          </a:solidFill>
                          <a:latin typeface="Trebuchet MS"/>
                        </a:rPr>
                        <a:t>No evaluation, baselines or error analysis</a:t>
                      </a:r>
                    </a:p>
                  </a:txBody>
                  <a:tcPr marL="73152" marR="73152" marT="36576" marB="36576" anchor="ctr">
                    <a:solidFill>
                      <a:srgbClr val="FFFFFF"/>
                    </a:solidFill>
                  </a:tcPr>
                </a:tc>
                <a:tc>
                  <a:txBody>
                    <a:bodyPr wrap="square"/>
                    <a:lstStyle/>
                    <a:p>
                      <a:r>
                        <a:rPr sz="1200" b="0">
                          <a:solidFill>
                            <a:srgbClr val="1B1B1B"/>
                          </a:solidFill>
                          <a:latin typeface="Trebuchet MS"/>
                        </a:rPr>
                        <a:t>Placebo tests, simulated validation and a held-out ranking test built; GAIL row pending</a:t>
                      </a:r>
                    </a:p>
                  </a:txBody>
                  <a:tcPr marL="73152" marR="73152" marT="36576" marB="36576" anchor="ctr">
                    <a:solidFill>
                      <a:srgbClr val="FFFFFF"/>
                    </a:solidFill>
                  </a:tcPr>
                </a:tc>
              </a:tr>
              <a:tr h="512064">
                <a:tc>
                  <a:txBody>
                    <a:bodyPr wrap="square"/>
                    <a:lstStyle/>
                    <a:p>
                      <a:r>
                        <a:rPr sz="1200" b="1">
                          <a:solidFill>
                            <a:srgbClr val="1B1B1B"/>
                          </a:solidFill>
                          <a:latin typeface="Trebuchet MS"/>
                        </a:rPr>
                        <a:t>Graph view and Granger insight missing</a:t>
                      </a:r>
                    </a:p>
                  </a:txBody>
                  <a:tcPr marL="73152" marR="73152" marT="36576" marB="36576" anchor="ctr">
                    <a:solidFill>
                      <a:srgbClr val="E8EEFB"/>
                    </a:solidFill>
                  </a:tcPr>
                </a:tc>
                <a:tc>
                  <a:txBody>
                    <a:bodyPr wrap="square"/>
                    <a:lstStyle/>
                    <a:p>
                      <a:r>
                        <a:rPr sz="1200" b="0">
                          <a:solidFill>
                            <a:srgbClr val="1B1B1B"/>
                          </a:solidFill>
                          <a:latin typeface="Trebuchet MS"/>
                        </a:rPr>
                        <a:t>Graph view exists; Granger causality not done (planned)</a:t>
                      </a:r>
                    </a:p>
                  </a:txBody>
                  <a:tcPr marL="73152" marR="73152" marT="36576" marB="36576" anchor="ctr">
                    <a:solidFill>
                      <a:srgbClr val="E8EEFB"/>
                    </a:solidFill>
                  </a:tcPr>
                </a:tc>
              </a:tr>
              <a:tr h="512064">
                <a:tc>
                  <a:txBody>
                    <a:bodyPr wrap="square"/>
                    <a:lstStyle/>
                    <a:p>
                      <a:r>
                        <a:rPr sz="1200" b="1">
                          <a:solidFill>
                            <a:srgbClr val="1B1B1B"/>
                          </a:solidFill>
                          <a:latin typeface="Trebuchet MS"/>
                        </a:rPr>
                        <a:t>Cost model is a flat heuristic</a:t>
                      </a:r>
                    </a:p>
                  </a:txBody>
                  <a:tcPr marL="73152" marR="73152" marT="36576" marB="36576" anchor="ctr">
                    <a:solidFill>
                      <a:srgbClr val="FFFFFF"/>
                    </a:solidFill>
                  </a:tcPr>
                </a:tc>
                <a:tc>
                  <a:txBody>
                    <a:bodyPr wrap="square"/>
                    <a:lstStyle/>
                    <a:p>
                      <a:r>
                        <a:rPr sz="1200" b="0">
                          <a:solidFill>
                            <a:srgbClr val="1B1B1B"/>
                          </a:solidFill>
                          <a:latin typeface="Trebuchet MS"/>
                        </a:rPr>
                        <a:t>Still a heuristic (category rate); no rate-card table yet</a:t>
                      </a:r>
                    </a:p>
                  </a:txBody>
                  <a:tcPr marL="73152" marR="73152" marT="36576" marB="36576" anchor="ctr">
                    <a:solidFill>
                      <a:srgbClr val="FFFFFF"/>
                    </a:solidFill>
                  </a:tcPr>
                </a:tc>
              </a:tr>
              <a:tr h="512064">
                <a:tc>
                  <a:txBody>
                    <a:bodyPr wrap="square"/>
                    <a:lstStyle/>
                    <a:p>
                      <a:r>
                        <a:rPr sz="1200" b="1">
                          <a:solidFill>
                            <a:srgbClr val="1B1B1B"/>
                          </a:solidFill>
                          <a:latin typeface="Trebuchet MS"/>
                        </a:rPr>
                        <a:t>Integration, performance, Docker</a:t>
                      </a:r>
                    </a:p>
                  </a:txBody>
                  <a:tcPr marL="73152" marR="73152" marT="36576" marB="36576" anchor="ctr">
                    <a:solidFill>
                      <a:srgbClr val="E8EEFB"/>
                    </a:solidFill>
                  </a:tcPr>
                </a:tc>
                <a:tc>
                  <a:txBody>
                    <a:bodyPr wrap="square"/>
                    <a:lstStyle/>
                    <a:p>
                      <a:r>
                        <a:rPr sz="1200" b="0">
                          <a:solidFill>
                            <a:srgbClr val="1B1B1B"/>
                          </a:solidFill>
                          <a:latin typeface="Trebuchet MS"/>
                        </a:rPr>
                        <a:t>390 automated tests pass, build passes; load test and Docker run still to do</a:t>
                      </a:r>
                    </a:p>
                  </a:txBody>
                  <a:tcPr marL="73152" marR="73152" marT="36576" marB="36576" anchor="ctr">
                    <a:solidFill>
                      <a:srgbClr val="E8EEFB"/>
                    </a:solidFill>
                  </a:tcPr>
                </a:tc>
              </a:tr>
            </a:tbl>
          </a:graphicData>
        </a:graphic>
      </p:graphicFrame>
      <p:sp>
        <p:nvSpPr>
          <p:cNvPr id="16" name="source note"/>
          <p:cNvSpPr txBox="1"/>
          <p:nvPr/>
        </p:nvSpPr>
        <p:spPr>
          <a:xfrm>
            <a:off x="640080" y="5989320"/>
            <a:ext cx="10881360" cy="365760"/>
          </a:xfrm>
          <a:prstGeom prst="rect">
            <a:avLst/>
          </a:prstGeom>
          <a:noFill/>
        </p:spPr>
        <p:txBody>
          <a:bodyPr wrap="square" lIns="0" rIns="0" tIns="0" bIns="0" anchor="t">
            <a:spAutoFit/>
          </a:bodyPr>
          <a:lstStyle/>
          <a:p>
            <a:pPr algn="l">
              <a:spcAft>
                <a:spcPts val="400"/>
              </a:spcAft>
            </a:pPr>
            <a:r>
              <a:rPr sz="1100" b="0">
                <a:solidFill>
                  <a:srgbClr val="5E6C73"/>
                </a:solidFill>
                <a:latin typeface="Trebuchet MS"/>
              </a:rPr>
              <a:t>Items are the open points listed after Review 1 and in the team's Pending Work list. [to fill: add the panel's own remarks if different]</a:t>
            </a:r>
          </a:p>
        </p:txBody>
      </p:sp>
    </p:spTree>
    <p:extLst>
      <p:ext uri="{BB962C8B-B14F-4D97-AF65-F5344CB8AC3E}">
        <p14:creationId xmlns:p14="http://schemas.microsoft.com/office/powerpoint/2010/main" val="4205369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C8ED5-E723-136E-FDC0-3A005013980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8AE750B-D869-952A-66FD-67A61F4ACA7A}"/>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a:extLst>
              <a:ext uri="{FF2B5EF4-FFF2-40B4-BE49-F238E27FC236}">
                <a16:creationId xmlns:a16="http://schemas.microsoft.com/office/drawing/2014/main" id="{BF8CE69B-69B8-0295-A31E-C148A00B4E16}"/>
              </a:ext>
            </a:extLst>
          </p:cNvPr>
          <p:cNvSpPr txBox="1">
            <a:spLocks noChangeArrowheads="1"/>
          </p:cNvSpPr>
          <p:nvPr/>
        </p:nvSpPr>
        <p:spPr bwMode="auto">
          <a:xfrm>
            <a:off x="2895600" y="990600"/>
            <a:ext cx="78486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Complete pipeline / Architecture of Project (1 of 2)</a:t>
            </a:r>
          </a:p>
        </p:txBody>
      </p:sp>
      <p:pic>
        <p:nvPicPr>
          <p:cNvPr id="15" name="picture" descr="architecture_modules.png"/>
          <p:cNvPicPr>
            <a:picLocks noChangeAspect="1"/>
          </p:cNvPicPr>
          <p:nvPr/>
        </p:nvPicPr>
        <p:blipFill>
          <a:blip r:embed="rId3"/>
          <a:stretch>
            <a:fillRect/>
          </a:stretch>
        </p:blipFill>
        <p:spPr>
          <a:xfrm>
            <a:off x="2743200" y="1737360"/>
            <a:ext cx="6858000" cy="4572000"/>
          </a:xfrm>
          <a:prstGeom prst="rect">
            <a:avLst/>
          </a:prstGeom>
          <a:ln w="12700">
            <a:solidFill>
              <a:srgbClr val="B8C4E0"/>
            </a:solidFill>
          </a:ln>
        </p:spPr>
      </p:pic>
    </p:spTree>
    <p:extLst>
      <p:ext uri="{BB962C8B-B14F-4D97-AF65-F5344CB8AC3E}">
        <p14:creationId xmlns:p14="http://schemas.microsoft.com/office/powerpoint/2010/main" val="3258823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2895600" y="990600"/>
            <a:ext cx="7848600" cy="461665"/>
          </a:xfrm>
          <a:prstGeom prst="rect">
            <a:avLst/>
          </a:prstGeom>
          <a:noFill/>
          <a:ln w="9525">
            <a:noFill/>
            <a:miter lim="800000"/>
            <a:headEnd/>
            <a:tailEnd/>
          </a:ln>
        </p:spPr>
        <p:txBody>
          <a:bodyPr wrap="square">
            <a:spAutoFit/>
          </a:bodyPr>
          <a:lstStyle/>
          <a:p>
            <a:pPr marL="342900" lvl="0" indent="-342900" algn="r">
              <a:spcBef>
                <a:spcPts val="0"/>
              </a:spcBef>
              <a:spcAft>
                <a:spcPts val="0"/>
              </a:spcAft>
              <a:buClr>
                <a:srgbClr val="FF0000"/>
              </a:buClr>
              <a:buSzPts val="2400"/>
            </a:pPr>
            <a:r>
              <a:rPr lang="en-US" sz="2400" dirty="0">
                <a:solidFill>
                  <a:srgbClr val="FF0000"/>
                </a:solidFill>
                <a:latin typeface="Trebuchet MS"/>
                <a:ea typeface="Trebuchet MS"/>
                <a:cs typeface="Trebuchet MS"/>
                <a:sym typeface="Trebuchet MS"/>
              </a:rPr>
              <a:t>Implementation: Modules 1-2, data and features</a:t>
            </a:r>
            <a:endParaRPr lang="en-US" dirty="0">
              <a:solidFill>
                <a:schemeClr val="dk1"/>
              </a:solidFill>
              <a:latin typeface="Arial"/>
              <a:ea typeface="Arial"/>
              <a:cs typeface="Arial"/>
              <a:sym typeface="Arial"/>
            </a:endParaRPr>
          </a:p>
        </p:txBody>
      </p:sp>
      <p:sp>
        <p:nvSpPr>
          <p:cNvPr id="15" name="module 1-2 text"/>
          <p:cNvSpPr txBox="1"/>
          <p:nvPr/>
        </p:nvSpPr>
        <p:spPr>
          <a:xfrm>
            <a:off x="640080" y="1828800"/>
            <a:ext cx="5760720" cy="4480560"/>
          </a:xfrm>
          <a:prstGeom prst="rect">
            <a:avLst/>
          </a:prstGeom>
          <a:noFill/>
        </p:spPr>
        <p:txBody>
          <a:bodyPr wrap="square" lIns="0" rIns="0" tIns="0" bIns="0" anchor="t">
            <a:spAutoFit/>
          </a:bodyPr>
          <a:lstStyle/>
          <a:p>
            <a:pPr algn="l" marL="274320" indent="-274320">
              <a:spcAft>
                <a:spcPts val="900"/>
              </a:spcAft>
              <a:buFont typeface="Wingdings" pitchFamily="2" charset="2"/>
              <a:buChar char="§"/>
            </a:pPr>
            <a:r>
              <a:rPr sz="1400" b="1">
                <a:solidFill>
                  <a:srgbClr val="0033CC"/>
                </a:solidFill>
                <a:latin typeface="Trebuchet MS"/>
              </a:rPr>
              <a:t>Technology: </a:t>
            </a:r>
            <a:r>
              <a:rPr sz="1400" b="0">
                <a:solidFill>
                  <a:srgbClr val="0033CC"/>
                </a:solidFill>
                <a:latin typeface="Trebuchet MS"/>
              </a:rPr>
              <a:t>YouTube Data API v3 read every 2 h by Supabase pg_cron; Instagram via OpenCLI and a Chrome extension (read-only, 130 page loads a day); Reddit page JSON; Supabase Postgres; Python 3.12.</a:t>
            </a:r>
          </a:p>
          <a:p>
            <a:pPr algn="l" marL="274320" indent="-274320">
              <a:spcAft>
                <a:spcPts val="900"/>
              </a:spcAft>
              <a:buFont typeface="Wingdings" pitchFamily="2" charset="2"/>
              <a:buChar char="§"/>
            </a:pPr>
            <a:r>
              <a:rPr sz="1400" b="1">
                <a:solidFill>
                  <a:srgbClr val="0033CC"/>
                </a:solidFill>
                <a:latin typeface="Trebuchet MS"/>
              </a:rPr>
              <a:t>Owner check: </a:t>
            </a:r>
            <a:r>
              <a:rPr sz="1400" b="0">
                <a:solidFill>
                  <a:srgbClr val="0033CC"/>
                </a:solidFill>
                <a:latin typeface="Trebuchet MS"/>
              </a:rPr>
              <a:t>every Instagram post is matched to the account that really posted it; foreign posts are detached (with a backup).</a:t>
            </a:r>
          </a:p>
          <a:p>
            <a:pPr algn="l" marL="274320" indent="-274320">
              <a:spcAft>
                <a:spcPts val="900"/>
              </a:spcAft>
              <a:buFont typeface="Wingdings" pitchFamily="2" charset="2"/>
              <a:buChar char="§"/>
            </a:pPr>
            <a:r>
              <a:rPr sz="1400" b="1">
                <a:solidFill>
                  <a:srgbClr val="0033CC"/>
                </a:solidFill>
                <a:latin typeface="Trebuchet MS"/>
              </a:rPr>
              <a:t>Sponsorship detector: </a:t>
            </a:r>
            <a:r>
              <a:rPr sz="1400" b="0">
                <a:solidFill>
                  <a:srgbClr val="0033CC"/>
                </a:solidFill>
                <a:latin typeface="Trebuchet MS"/>
              </a:rPr>
              <a:t>rules on text, six evidence tiers from official label to brand mention; spoken sponsors read from captions; negations ('not a paid promotion') ignored.</a:t>
            </a:r>
          </a:p>
          <a:p>
            <a:pPr algn="l" marL="274320" indent="-274320">
              <a:spcAft>
                <a:spcPts val="900"/>
              </a:spcAft>
              <a:buFont typeface="Wingdings" pitchFamily="2" charset="2"/>
              <a:buChar char="§"/>
            </a:pPr>
            <a:r>
              <a:rPr sz="1400" b="1">
                <a:solidFill>
                  <a:srgbClr val="0033CC"/>
                </a:solidFill>
                <a:latin typeface="Trebuchet MS"/>
              </a:rPr>
              <a:t>Label reliability: </a:t>
            </a:r>
            <a:r>
              <a:rPr sz="1400" b="0">
                <a:solidFill>
                  <a:srgbClr val="0033CC"/>
                </a:solidFill>
                <a:latin typeface="Trebuchet MS"/>
              </a:rPr>
              <a:t>each event scored by the human-checked precision of its tier.</a:t>
            </a:r>
          </a:p>
        </p:txBody>
      </p:sp>
      <p:sp>
        <p:nvSpPr>
          <p:cNvPr id="16" name="code box"/>
          <p:cNvSpPr/>
          <p:nvPr/>
        </p:nvSpPr>
        <p:spPr>
          <a:xfrm>
            <a:off x="6583680" y="1828800"/>
            <a:ext cx="5029200" cy="4160520"/>
          </a:xfrm>
          <a:prstGeom prst="roundRect">
            <a:avLst>
              <a:gd name="adj" fmla="val 3000"/>
            </a:avLst>
          </a:prstGeom>
          <a:solidFill>
            <a:srgbClr val="F4F6FA"/>
          </a:solidFill>
          <a:ln w="15875">
            <a:solidFill>
              <a:srgbClr val="B8C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seudocode"/>
          <p:cNvSpPr txBox="1"/>
          <p:nvPr/>
        </p:nvSpPr>
        <p:spPr>
          <a:xfrm>
            <a:off x="6720840" y="1938528"/>
            <a:ext cx="4754880" cy="3977639"/>
          </a:xfrm>
          <a:prstGeom prst="rect">
            <a:avLst/>
          </a:prstGeom>
          <a:noFill/>
        </p:spPr>
        <p:txBody>
          <a:bodyPr wrap="square" lIns="0" rIns="0" tIns="0" bIns="0" anchor="t">
            <a:spAutoFit/>
          </a:bodyPr>
          <a:lstStyle/>
          <a:p>
            <a:pPr algn="l">
              <a:spcAft>
                <a:spcPts val="0"/>
              </a:spcAft>
            </a:pPr>
            <a:r>
              <a:rPr sz="1300" b="0">
                <a:solidFill>
                  <a:srgbClr val="1B1B1B"/>
                </a:solidFill>
                <a:latin typeface="Consolas"/>
              </a:rPr>
              <a:t>for post in new_posts:</a:t>
            </a:r>
          </a:p>
          <a:p>
            <a:pPr algn="l">
              <a:spcAft>
                <a:spcPts val="0"/>
              </a:spcAft>
            </a:pPr>
            <a:r>
              <a:rPr sz="1300" b="0">
                <a:solidFill>
                  <a:srgbClr val="1B1B1B"/>
                </a:solidFill>
                <a:latin typeface="Consolas"/>
              </a:rPr>
              <a:t>    owner = owner_from_og_text(post)</a:t>
            </a:r>
          </a:p>
          <a:p>
            <a:pPr algn="l">
              <a:spcAft>
                <a:spcPts val="0"/>
              </a:spcAft>
            </a:pPr>
            <a:r>
              <a:rPr sz="1300" b="0">
                <a:solidFill>
                  <a:srgbClr val="1B1B1B"/>
                </a:solidFill>
                <a:latin typeface="Consolas"/>
              </a:rPr>
              <a:t>    if owner != post.creator:</a:t>
            </a:r>
          </a:p>
          <a:p>
            <a:pPr algn="l">
              <a:spcAft>
                <a:spcPts val="0"/>
              </a:spcAft>
            </a:pPr>
            <a:r>
              <a:rPr sz="1300" b="0">
                <a:solidFill>
                  <a:srgbClr val="1B1B1B"/>
                </a:solidFill>
                <a:latin typeface="Consolas"/>
              </a:rPr>
              <a:t>        backup(post); detach(post)</a:t>
            </a:r>
          </a:p>
          <a:p>
            <a:pPr algn="l">
              <a:spcAft>
                <a:spcPts val="0"/>
              </a:spcAft>
            </a:pPr>
            <a:r>
              <a:rPr sz="1300" b="0">
                <a:solidFill>
                  <a:srgbClr val="1B1B1B"/>
                </a:solidFill>
                <a:latin typeface="Consolas"/>
              </a:rPr>
              <a:t/>
            </a:r>
          </a:p>
          <a:p>
            <a:pPr algn="l">
              <a:spcAft>
                <a:spcPts val="0"/>
              </a:spcAft>
            </a:pPr>
            <a:r>
              <a:rPr sz="1300" b="0">
                <a:solidFill>
                  <a:srgbClr val="1B1B1B"/>
                </a:solidFill>
                <a:latin typeface="Consolas"/>
              </a:rPr>
              <a:t>tier = highest of:</a:t>
            </a:r>
          </a:p>
          <a:p>
            <a:pPr algn="l">
              <a:spcAft>
                <a:spcPts val="0"/>
              </a:spcAft>
            </a:pPr>
            <a:r>
              <a:rPr sz="1300" b="0">
                <a:solidFill>
                  <a:srgbClr val="1B1B1B"/>
                </a:solidFill>
                <a:latin typeface="Consolas"/>
              </a:rPr>
              <a:t>    official_label &gt; spoken &gt;</a:t>
            </a:r>
          </a:p>
          <a:p>
            <a:pPr algn="l">
              <a:spcAft>
                <a:spcPts val="0"/>
              </a:spcAft>
            </a:pPr>
            <a:r>
              <a:rPr sz="1300" b="0">
                <a:solidFill>
                  <a:srgbClr val="1B1B1B"/>
                </a:solidFill>
                <a:latin typeface="Consolas"/>
              </a:rPr>
              <a:t>    creator_comment &gt; disclosure_tag &gt;</a:t>
            </a:r>
          </a:p>
          <a:p>
            <a:pPr algn="l">
              <a:spcAft>
                <a:spcPts val="0"/>
              </a:spcAft>
            </a:pPr>
            <a:r>
              <a:rPr sz="1300" b="0">
                <a:solidFill>
                  <a:srgbClr val="1B1B1B"/>
                </a:solidFill>
                <a:latin typeface="Consolas"/>
              </a:rPr>
              <a:t>    brand_and_code &gt; brand_mention</a:t>
            </a:r>
          </a:p>
          <a:p>
            <a:pPr algn="l">
              <a:spcAft>
                <a:spcPts val="0"/>
              </a:spcAft>
            </a:pPr>
            <a:r>
              <a:rPr sz="1300" b="0">
                <a:solidFill>
                  <a:srgbClr val="1B1B1B"/>
                </a:solidFill>
                <a:latin typeface="Consolas"/>
              </a:rPr>
              <a:t/>
            </a:r>
          </a:p>
          <a:p>
            <a:pPr algn="l">
              <a:spcAft>
                <a:spcPts val="0"/>
              </a:spcAft>
            </a:pPr>
            <a:r>
              <a:rPr sz="1300" b="0">
                <a:solidFill>
                  <a:srgbClr val="1B1B1B"/>
                </a:solidFill>
                <a:latin typeface="Consolas"/>
              </a:rPr>
              <a:t>if tier and not negated(text):</a:t>
            </a:r>
          </a:p>
          <a:p>
            <a:pPr algn="l">
              <a:spcAft>
                <a:spcPts val="0"/>
              </a:spcAft>
            </a:pPr>
            <a:r>
              <a:rPr sz="1300" b="0">
                <a:solidFill>
                  <a:srgbClr val="1B1B1B"/>
                </a:solidFill>
                <a:latin typeface="Consolas"/>
              </a:rPr>
              <a:t>    is_sponsored = True</a:t>
            </a:r>
          </a:p>
          <a:p>
            <a:pPr algn="l">
              <a:spcAft>
                <a:spcPts val="0"/>
              </a:spcAft>
            </a:pPr>
            <a:r>
              <a:rPr sz="1300" b="0">
                <a:solidFill>
                  <a:srgbClr val="1B1B1B"/>
                </a:solidFill>
                <a:latin typeface="Consolas"/>
              </a:rPr>
              <a:t>    p_ad = shrunk_precision(tier)</a:t>
            </a:r>
          </a:p>
        </p:txBody>
      </p:sp>
    </p:spTree>
    <p:extLst>
      <p:ext uri="{BB962C8B-B14F-4D97-AF65-F5344CB8AC3E}">
        <p14:creationId xmlns:p14="http://schemas.microsoft.com/office/powerpoint/2010/main" val="4205369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900" lvl="0" indent="-342900" algn="r">
              <a:spcBef>
                <a:spcPts val="0"/>
              </a:spcBef>
              <a:spcAft>
                <a:spcPts val="0"/>
              </a:spcAft>
            </a:pPr>
            <a:r>
              <a:rPr lang="en-US" sz="2400" dirty="0">
                <a:solidFill>
                  <a:srgbClr val="FF0000"/>
                </a:solidFill>
                <a:latin typeface="Trebuchet MS"/>
                <a:ea typeface="Trebuchet MS"/>
                <a:cs typeface="Trebuchet MS"/>
                <a:sym typeface="Trebuchet MS"/>
              </a:rPr>
              <a:t>Project Demonstration</a:t>
            </a:r>
            <a:endParaRPr lang="en-US" sz="2400" dirty="0"/>
          </a:p>
        </p:txBody>
      </p:sp>
      <p:sp>
        <p:nvSpPr>
          <p:cNvPr id="4" name="demo flow"/>
          <p:cNvSpPr txBox="1"/>
          <p:nvPr/>
        </p:nvSpPr>
        <p:spPr>
          <a:xfrm>
            <a:off x="640080" y="1828800"/>
            <a:ext cx="3291840" cy="4480560"/>
          </a:xfrm>
          <a:prstGeom prst="rect">
            <a:avLst/>
          </a:prstGeom>
          <a:noFill/>
        </p:spPr>
        <p:txBody>
          <a:bodyPr wrap="square" lIns="0" rIns="0" tIns="0" bIns="0" anchor="t">
            <a:spAutoFit/>
          </a:bodyPr>
          <a:lstStyle/>
          <a:p>
            <a:pPr algn="l">
              <a:spcAft>
                <a:spcPts val="600"/>
              </a:spcAft>
            </a:pPr>
            <a:r>
              <a:rPr sz="1300" b="0">
                <a:solidFill>
                  <a:srgbClr val="0033CC"/>
                </a:solidFill>
                <a:latin typeface="Trebuchet MS"/>
              </a:rPr>
              <a:t>Demo flow (about 4 minutes):</a:t>
            </a:r>
          </a:p>
          <a:p>
            <a:pPr algn="l">
              <a:spcAft>
                <a:spcPts val="600"/>
              </a:spcAft>
            </a:pPr>
            <a:r>
              <a:rPr sz="1300" b="0">
                <a:solidFill>
                  <a:srgbClr val="0033CC"/>
                </a:solidFill>
                <a:latin typeface="Trebuchet MS"/>
              </a:rPr>
              <a:t>1. Brand brief: 'Whey protein, fitness', budget 3,00,000</a:t>
            </a:r>
          </a:p>
          <a:p>
            <a:pPr algn="l">
              <a:spcAft>
                <a:spcPts val="600"/>
              </a:spcAft>
            </a:pPr>
            <a:r>
              <a:rPr sz="1300" b="0">
                <a:solidFill>
                  <a:srgbClr val="0033CC"/>
                </a:solidFill>
                <a:latin typeface="Trebuchet MS"/>
              </a:rPr>
              <a:t>2. Ranked list with score, range and basis badge</a:t>
            </a:r>
          </a:p>
          <a:p>
            <a:pPr algn="l">
              <a:spcAft>
                <a:spcPts val="600"/>
              </a:spcAft>
            </a:pPr>
            <a:r>
              <a:rPr sz="1300" b="0">
                <a:solidFill>
                  <a:srgbClr val="0033CC"/>
                </a:solidFill>
                <a:latin typeface="Trebuchet MS"/>
              </a:rPr>
              <a:t>3. 'YouTube vs Instagram status' for a creator</a:t>
            </a:r>
          </a:p>
          <a:p>
            <a:pPr algn="l">
              <a:spcAft>
                <a:spcPts val="600"/>
              </a:spcAft>
            </a:pPr>
            <a:r>
              <a:rPr sz="1300" b="0">
                <a:solidFill>
                  <a:srgbClr val="0033CC"/>
                </a:solidFill>
                <a:latin typeface="Trebuchet MS"/>
              </a:rPr>
              <a:t>4. Explainability: how the score is built</a:t>
            </a:r>
          </a:p>
          <a:p>
            <a:pPr algn="l">
              <a:spcAft>
                <a:spcPts val="600"/>
              </a:spcAft>
            </a:pPr>
            <a:r>
              <a:rPr sz="1300" b="0">
                <a:solidFill>
                  <a:srgbClr val="0033CC"/>
                </a:solidFill>
                <a:latin typeface="Trebuchet MS"/>
              </a:rPr>
              <a:t>5. Monitoring alerts with creator names</a:t>
            </a:r>
          </a:p>
          <a:p>
            <a:pPr algn="l">
              <a:spcAft>
                <a:spcPts val="600"/>
              </a:spcAft>
            </a:pPr>
            <a:r>
              <a:rPr sz="1300" b="0">
                <a:solidFill>
                  <a:srgbClr val="0033CC"/>
                </a:solidFill>
                <a:latin typeface="Trebuchet MS"/>
              </a:rPr>
              <a:t>6. Analysis tab: real result next to the simulated check</a:t>
            </a:r>
          </a:p>
        </p:txBody>
      </p:sp>
      <p:sp>
        <p:nvSpPr>
          <p:cNvPr id="5" name="demo video note"/>
          <p:cNvSpPr txBox="1"/>
          <p:nvPr/>
        </p:nvSpPr>
        <p:spPr>
          <a:xfrm>
            <a:off x="640080" y="5760720"/>
            <a:ext cx="5486400" cy="548640"/>
          </a:xfrm>
          <a:prstGeom prst="rect">
            <a:avLst/>
          </a:prstGeom>
          <a:noFill/>
        </p:spPr>
        <p:txBody>
          <a:bodyPr wrap="square" lIns="0" rIns="0" tIns="0" bIns="0" anchor="t">
            <a:spAutoFit/>
          </a:bodyPr>
          <a:lstStyle/>
          <a:p>
            <a:pPr algn="l">
              <a:spcAft>
                <a:spcPts val="400"/>
              </a:spcAft>
            </a:pPr>
            <a:r>
              <a:rPr sz="1200" b="0">
                <a:solidFill>
                  <a:srgbClr val="FF0000"/>
                </a:solidFill>
                <a:latin typeface="Trebuchet MS"/>
              </a:rPr>
              <a:t>[to fill: demo video recorded and checked]</a:t>
            </a:r>
          </a:p>
        </p:txBody>
      </p:sp>
      <p:pic>
        <p:nvPicPr>
          <p:cNvPr id="6" name="picture" descr="dashboard_platform_status.jpg"/>
          <p:cNvPicPr>
            <a:picLocks noChangeAspect="1"/>
          </p:cNvPicPr>
          <p:nvPr/>
        </p:nvPicPr>
        <p:blipFill>
          <a:blip r:embed="rId2"/>
          <a:stretch>
            <a:fillRect/>
          </a:stretch>
        </p:blipFill>
        <p:spPr>
          <a:xfrm>
            <a:off x="4114800" y="1828800"/>
            <a:ext cx="3749039" cy="2788348"/>
          </a:xfrm>
          <a:prstGeom prst="rect">
            <a:avLst/>
          </a:prstGeom>
          <a:ln w="12700">
            <a:solidFill>
              <a:srgbClr val="B8C4E0"/>
            </a:solidFill>
          </a:ln>
        </p:spPr>
      </p:pic>
      <p:pic>
        <p:nvPicPr>
          <p:cNvPr id="7" name="picture" descr="analysis_real_vs_simulated.jpg"/>
          <p:cNvPicPr>
            <a:picLocks noChangeAspect="1"/>
          </p:cNvPicPr>
          <p:nvPr/>
        </p:nvPicPr>
        <p:blipFill>
          <a:blip r:embed="rId3"/>
          <a:stretch>
            <a:fillRect/>
          </a:stretch>
        </p:blipFill>
        <p:spPr>
          <a:xfrm>
            <a:off x="8001000" y="1828800"/>
            <a:ext cx="3749039" cy="2788348"/>
          </a:xfrm>
          <a:prstGeom prst="rect">
            <a:avLst/>
          </a:prstGeom>
          <a:ln w="12700">
            <a:solidFill>
              <a:srgbClr val="B8C4E0"/>
            </a:solidFill>
          </a:ln>
        </p:spPr>
      </p:pic>
      <p:sp>
        <p:nvSpPr>
          <p:cNvPr id="8" name="caption 1"/>
          <p:cNvSpPr txBox="1"/>
          <p:nvPr/>
        </p:nvSpPr>
        <p:spPr>
          <a:xfrm>
            <a:off x="4114800" y="4754880"/>
            <a:ext cx="3749039" cy="548640"/>
          </a:xfrm>
          <a:prstGeom prst="rect">
            <a:avLst/>
          </a:prstGeom>
          <a:noFill/>
        </p:spPr>
        <p:txBody>
          <a:bodyPr wrap="square" lIns="0" rIns="0" tIns="0" bIns="0" anchor="t">
            <a:spAutoFit/>
          </a:bodyPr>
          <a:lstStyle/>
          <a:p>
            <a:pPr algn="l">
              <a:spcAft>
                <a:spcPts val="400"/>
              </a:spcAft>
            </a:pPr>
            <a:r>
              <a:rPr sz="1200" b="0">
                <a:solidFill>
                  <a:srgbClr val="5E6C73"/>
                </a:solidFill>
                <a:latin typeface="Trebuchet MS"/>
              </a:rPr>
              <a:t>Ranked result with per-platform status</a:t>
            </a:r>
          </a:p>
        </p:txBody>
      </p:sp>
      <p:sp>
        <p:nvSpPr>
          <p:cNvPr id="9" name="caption 2"/>
          <p:cNvSpPr txBox="1"/>
          <p:nvPr/>
        </p:nvSpPr>
        <p:spPr>
          <a:xfrm>
            <a:off x="8001000" y="4754880"/>
            <a:ext cx="3749039" cy="548640"/>
          </a:xfrm>
          <a:prstGeom prst="rect">
            <a:avLst/>
          </a:prstGeom>
          <a:noFill/>
        </p:spPr>
        <p:txBody>
          <a:bodyPr wrap="square" lIns="0" rIns="0" tIns="0" bIns="0" anchor="t">
            <a:spAutoFit/>
          </a:bodyPr>
          <a:lstStyle/>
          <a:p>
            <a:pPr algn="l">
              <a:spcAft>
                <a:spcPts val="400"/>
              </a:spcAft>
            </a:pPr>
            <a:r>
              <a:rPr sz="1200" b="0">
                <a:solidFill>
                  <a:srgbClr val="5E6C73"/>
                </a:solidFill>
                <a:latin typeface="Trebuchet MS"/>
              </a:rPr>
              <a:t>Analysis tab: real vs simulated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447800"/>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2895600" y="990600"/>
            <a:ext cx="7848600" cy="461665"/>
          </a:xfrm>
          <a:prstGeom prst="rect">
            <a:avLst/>
          </a:prstGeom>
          <a:noFill/>
          <a:ln w="9525">
            <a:noFill/>
            <a:miter lim="800000"/>
            <a:headEnd/>
            <a:tailEnd/>
          </a:ln>
        </p:spPr>
        <p:txBody>
          <a:bodyPr wrap="square">
            <a:spAutoFit/>
          </a:bodyPr>
          <a:lstStyle/>
          <a:p>
            <a:pPr marL="342900" lvl="0" indent="-342900" algn="r">
              <a:spcBef>
                <a:spcPts val="0"/>
              </a:spcBef>
              <a:spcAft>
                <a:spcPts val="0"/>
              </a:spcAft>
            </a:pPr>
            <a:r>
              <a:rPr lang="en-US" sz="2400" dirty="0">
                <a:solidFill>
                  <a:srgbClr val="FF0000"/>
                </a:solidFill>
                <a:latin typeface="Trebuchet MS"/>
                <a:ea typeface="Trebuchet MS"/>
                <a:cs typeface="Trebuchet MS"/>
                <a:sym typeface="Trebuchet MS"/>
              </a:rPr>
              <a:t>Test Plan and Strategy (1 of 2)</a:t>
            </a:r>
            <a:endParaRPr lang="en-US" sz="2400" dirty="0"/>
          </a:p>
        </p:txBody>
      </p:sp>
      <p:graphicFrame>
        <p:nvGraphicFramePr>
          <p:cNvPr id="15" name="test table"/>
          <p:cNvGraphicFramePr>
            <a:graphicFrameLocks noGrp="1"/>
          </p:cNvGraphicFramePr>
          <p:nvPr/>
        </p:nvGraphicFramePr>
        <p:xfrm>
          <a:off x="640080" y="1783080"/>
          <a:ext cx="10881360" cy="3657600"/>
        </p:xfrm>
        <a:graphic>
          <a:graphicData uri="http://schemas.openxmlformats.org/drawingml/2006/table">
            <a:tbl>
              <a:tblPr firstRow="1" bandRow="0">
                <a:tableStyleId>{2D5ABB26-0587-4C30-8999-92F81FD0307C}</a:tableStyleId>
              </a:tblPr>
              <a:tblGrid>
                <a:gridCol w="2194560"/>
                <a:gridCol w="5029200"/>
                <a:gridCol w="1828800"/>
                <a:gridCol w="1828800"/>
              </a:tblGrid>
              <a:tr h="457200">
                <a:tc>
                  <a:txBody>
                    <a:bodyPr wrap="square"/>
                    <a:lstStyle/>
                    <a:p>
                      <a:r>
                        <a:rPr sz="1200" b="1">
                          <a:solidFill>
                            <a:srgbClr val="FFFFFF"/>
                          </a:solidFill>
                          <a:latin typeface="Trebuchet MS"/>
                        </a:rPr>
                        <a:t>Test type</a:t>
                      </a:r>
                    </a:p>
                  </a:txBody>
                  <a:tcPr marL="73152" marR="73152" marT="36576" marB="36576" anchor="ctr">
                    <a:solidFill>
                      <a:srgbClr val="0033CC"/>
                    </a:solidFill>
                  </a:tcPr>
                </a:tc>
                <a:tc>
                  <a:txBody>
                    <a:bodyPr wrap="square"/>
                    <a:lstStyle/>
                    <a:p>
                      <a:r>
                        <a:rPr sz="1200" b="1">
                          <a:solidFill>
                            <a:srgbClr val="FFFFFF"/>
                          </a:solidFill>
                          <a:latin typeface="Trebuchet MS"/>
                        </a:rPr>
                        <a:t>What is covered</a:t>
                      </a:r>
                    </a:p>
                  </a:txBody>
                  <a:tcPr marL="73152" marR="73152" marT="36576" marB="36576" anchor="ctr">
                    <a:solidFill>
                      <a:srgbClr val="0033CC"/>
                    </a:solidFill>
                  </a:tcPr>
                </a:tc>
                <a:tc>
                  <a:txBody>
                    <a:bodyPr wrap="square"/>
                    <a:lstStyle/>
                    <a:p>
                      <a:r>
                        <a:rPr sz="1200" b="1">
                          <a:solidFill>
                            <a:srgbClr val="FFFFFF"/>
                          </a:solidFill>
                          <a:latin typeface="Trebuchet MS"/>
                        </a:rPr>
                        <a:t>Tool</a:t>
                      </a:r>
                    </a:p>
                  </a:txBody>
                  <a:tcPr marL="73152" marR="73152" marT="36576" marB="36576" anchor="ctr">
                    <a:solidFill>
                      <a:srgbClr val="0033CC"/>
                    </a:solidFill>
                  </a:tcPr>
                </a:tc>
                <a:tc>
                  <a:txBody>
                    <a:bodyPr wrap="square"/>
                    <a:lstStyle/>
                    <a:p>
                      <a:r>
                        <a:rPr sz="1200" b="1">
                          <a:solidFill>
                            <a:srgbClr val="FFFFFF"/>
                          </a:solidFill>
                          <a:latin typeface="Trebuchet MS"/>
                        </a:rPr>
                        <a:t>Result (27 Oct)</a:t>
                      </a:r>
                    </a:p>
                  </a:txBody>
                  <a:tcPr marL="73152" marR="73152" marT="36576" marB="36576" anchor="ctr">
                    <a:solidFill>
                      <a:srgbClr val="0033CC"/>
                    </a:solidFill>
                  </a:tcPr>
                </a:tc>
              </a:tr>
              <a:tr h="457200">
                <a:tc>
                  <a:txBody>
                    <a:bodyPr wrap="square"/>
                    <a:lstStyle/>
                    <a:p>
                      <a:r>
                        <a:rPr sz="1200" b="1">
                          <a:solidFill>
                            <a:srgbClr val="1B1B1B"/>
                          </a:solidFill>
                          <a:latin typeface="Trebuchet MS"/>
                        </a:rPr>
                        <a:t>Unit: backend</a:t>
                      </a:r>
                    </a:p>
                  </a:txBody>
                  <a:tcPr marL="73152" marR="73152" marT="36576" marB="36576" anchor="ctr">
                    <a:solidFill>
                      <a:srgbClr val="E8EEFB"/>
                    </a:solidFill>
                  </a:tcPr>
                </a:tc>
                <a:tc>
                  <a:txBody>
                    <a:bodyPr wrap="square"/>
                    <a:lstStyle/>
                    <a:p>
                      <a:r>
                        <a:rPr sz="1200" b="0">
                          <a:solidFill>
                            <a:srgbClr val="1B1B1B"/>
                          </a:solidFill>
                          <a:latin typeface="Trebuchet MS"/>
                        </a:rPr>
                        <a:t>scoring, filters, feature store, alerts, platform profile</a:t>
                      </a:r>
                    </a:p>
                  </a:txBody>
                  <a:tcPr marL="73152" marR="73152" marT="36576" marB="36576" anchor="ctr">
                    <a:solidFill>
                      <a:srgbClr val="E8EEFB"/>
                    </a:solidFill>
                  </a:tcPr>
                </a:tc>
                <a:tc>
                  <a:txBody>
                    <a:bodyPr wrap="square"/>
                    <a:lstStyle/>
                    <a:p>
                      <a:r>
                        <a:rPr sz="1200" b="0">
                          <a:solidFill>
                            <a:srgbClr val="1B1B1B"/>
                          </a:solidFill>
                          <a:latin typeface="Trebuchet MS"/>
                        </a:rPr>
                        <a:t>pytest</a:t>
                      </a:r>
                    </a:p>
                  </a:txBody>
                  <a:tcPr marL="73152" marR="73152" marT="36576" marB="36576" anchor="ctr">
                    <a:solidFill>
                      <a:srgbClr val="E8EEFB"/>
                    </a:solidFill>
                  </a:tcPr>
                </a:tc>
                <a:tc>
                  <a:txBody>
                    <a:bodyPr wrap="square"/>
                    <a:lstStyle/>
                    <a:p>
                      <a:r>
                        <a:rPr sz="1200" b="0">
                          <a:solidFill>
                            <a:srgbClr val="1B1B1B"/>
                          </a:solidFill>
                          <a:latin typeface="Trebuchet MS"/>
                        </a:rPr>
                        <a:t>120 pass</a:t>
                      </a:r>
                    </a:p>
                  </a:txBody>
                  <a:tcPr marL="73152" marR="73152" marT="36576" marB="36576" anchor="ctr">
                    <a:solidFill>
                      <a:srgbClr val="E8EEFB"/>
                    </a:solidFill>
                  </a:tcPr>
                </a:tc>
              </a:tr>
              <a:tr h="457200">
                <a:tc>
                  <a:txBody>
                    <a:bodyPr wrap="square"/>
                    <a:lstStyle/>
                    <a:p>
                      <a:r>
                        <a:rPr sz="1200" b="1">
                          <a:solidFill>
                            <a:srgbClr val="1B1B1B"/>
                          </a:solidFill>
                          <a:latin typeface="Trebuchet MS"/>
                        </a:rPr>
                        <a:t>Unit: ML and scripts</a:t>
                      </a:r>
                    </a:p>
                  </a:txBody>
                  <a:tcPr marL="73152" marR="73152" marT="36576" marB="36576" anchor="ctr">
                    <a:solidFill>
                      <a:srgbClr val="FFFFFF"/>
                    </a:solidFill>
                  </a:tcPr>
                </a:tc>
                <a:tc>
                  <a:txBody>
                    <a:bodyPr wrap="square"/>
                    <a:lstStyle/>
                    <a:p>
                      <a:r>
                        <a:rPr sz="1200" b="0">
                          <a:solidFill>
                            <a:srgbClr val="1B1B1B"/>
                          </a:solidFill>
                          <a:latin typeface="Trebuchet MS"/>
                        </a:rPr>
                        <a:t>estimators, label model, lag, ranking, simulations</a:t>
                      </a:r>
                    </a:p>
                  </a:txBody>
                  <a:tcPr marL="73152" marR="73152" marT="36576" marB="36576" anchor="ctr">
                    <a:solidFill>
                      <a:srgbClr val="FFFFFF"/>
                    </a:solidFill>
                  </a:tcPr>
                </a:tc>
                <a:tc>
                  <a:txBody>
                    <a:bodyPr wrap="square"/>
                    <a:lstStyle/>
                    <a:p>
                      <a:r>
                        <a:rPr sz="1200" b="0">
                          <a:solidFill>
                            <a:srgbClr val="1B1B1B"/>
                          </a:solidFill>
                          <a:latin typeface="Trebuchet MS"/>
                        </a:rPr>
                        <a:t>pytest</a:t>
                      </a:r>
                    </a:p>
                  </a:txBody>
                  <a:tcPr marL="73152" marR="73152" marT="36576" marB="36576" anchor="ctr">
                    <a:solidFill>
                      <a:srgbClr val="FFFFFF"/>
                    </a:solidFill>
                  </a:tcPr>
                </a:tc>
                <a:tc>
                  <a:txBody>
                    <a:bodyPr wrap="square"/>
                    <a:lstStyle/>
                    <a:p>
                      <a:r>
                        <a:rPr sz="1200" b="0">
                          <a:solidFill>
                            <a:srgbClr val="1B1B1B"/>
                          </a:solidFill>
                          <a:latin typeface="Trebuchet MS"/>
                        </a:rPr>
                        <a:t>150 pass</a:t>
                      </a:r>
                    </a:p>
                  </a:txBody>
                  <a:tcPr marL="73152" marR="73152" marT="36576" marB="36576" anchor="ctr">
                    <a:solidFill>
                      <a:srgbClr val="FFFFFF"/>
                    </a:solidFill>
                  </a:tcPr>
                </a:tc>
              </a:tr>
              <a:tr h="457200">
                <a:tc>
                  <a:txBody>
                    <a:bodyPr wrap="square"/>
                    <a:lstStyle/>
                    <a:p>
                      <a:r>
                        <a:rPr sz="1200" b="1">
                          <a:solidFill>
                            <a:srgbClr val="1B1B1B"/>
                          </a:solidFill>
                          <a:latin typeface="Trebuchet MS"/>
                        </a:rPr>
                        <a:t>Unit: ingestion</a:t>
                      </a:r>
                    </a:p>
                  </a:txBody>
                  <a:tcPr marL="73152" marR="73152" marT="36576" marB="36576" anchor="ctr">
                    <a:solidFill>
                      <a:srgbClr val="E8EEFB"/>
                    </a:solidFill>
                  </a:tcPr>
                </a:tc>
                <a:tc>
                  <a:txBody>
                    <a:bodyPr wrap="square"/>
                    <a:lstStyle/>
                    <a:p>
                      <a:r>
                        <a:rPr sz="1200" b="0">
                          <a:solidFill>
                            <a:srgbClr val="1B1B1B"/>
                          </a:solidFill>
                          <a:latin typeface="Trebuchet MS"/>
                        </a:rPr>
                        <a:t>detector, daily job budget and blocks, Reddit, snapshots</a:t>
                      </a:r>
                    </a:p>
                  </a:txBody>
                  <a:tcPr marL="73152" marR="73152" marT="36576" marB="36576" anchor="ctr">
                    <a:solidFill>
                      <a:srgbClr val="E8EEFB"/>
                    </a:solidFill>
                  </a:tcPr>
                </a:tc>
                <a:tc>
                  <a:txBody>
                    <a:bodyPr wrap="square"/>
                    <a:lstStyle/>
                    <a:p>
                      <a:r>
                        <a:rPr sz="1200" b="0">
                          <a:solidFill>
                            <a:srgbClr val="1B1B1B"/>
                          </a:solidFill>
                          <a:latin typeface="Trebuchet MS"/>
                        </a:rPr>
                        <a:t>pytest</a:t>
                      </a:r>
                    </a:p>
                  </a:txBody>
                  <a:tcPr marL="73152" marR="73152" marT="36576" marB="36576" anchor="ctr">
                    <a:solidFill>
                      <a:srgbClr val="E8EEFB"/>
                    </a:solidFill>
                  </a:tcPr>
                </a:tc>
                <a:tc>
                  <a:txBody>
                    <a:bodyPr wrap="square"/>
                    <a:lstStyle/>
                    <a:p>
                      <a:r>
                        <a:rPr sz="1200" b="0">
                          <a:solidFill>
                            <a:srgbClr val="1B1B1B"/>
                          </a:solidFill>
                          <a:latin typeface="Trebuchet MS"/>
                        </a:rPr>
                        <a:t>120 pass</a:t>
                      </a:r>
                    </a:p>
                  </a:txBody>
                  <a:tcPr marL="73152" marR="73152" marT="36576" marB="36576" anchor="ctr">
                    <a:solidFill>
                      <a:srgbClr val="E8EEFB"/>
                    </a:solidFill>
                  </a:tcPr>
                </a:tc>
              </a:tr>
              <a:tr h="457200">
                <a:tc>
                  <a:txBody>
                    <a:bodyPr wrap="square"/>
                    <a:lstStyle/>
                    <a:p>
                      <a:r>
                        <a:rPr sz="1200" b="1">
                          <a:solidFill>
                            <a:srgbClr val="1B1B1B"/>
                          </a:solidFill>
                          <a:latin typeface="Trebuchet MS"/>
                        </a:rPr>
                        <a:t>Frontend</a:t>
                      </a:r>
                    </a:p>
                  </a:txBody>
                  <a:tcPr marL="73152" marR="73152" marT="36576" marB="36576" anchor="ctr">
                    <a:solidFill>
                      <a:srgbClr val="FFFFFF"/>
                    </a:solidFill>
                  </a:tcPr>
                </a:tc>
                <a:tc>
                  <a:txBody>
                    <a:bodyPr wrap="square"/>
                    <a:lstStyle/>
                    <a:p>
                      <a:r>
                        <a:rPr sz="1200" b="0">
                          <a:solidFill>
                            <a:srgbClr val="1B1B1B"/>
                          </a:solidFill>
                          <a:latin typeface="Trebuchet MS"/>
                        </a:rPr>
                        <a:t>type-check, lint, production build</a:t>
                      </a:r>
                    </a:p>
                  </a:txBody>
                  <a:tcPr marL="73152" marR="73152" marT="36576" marB="36576" anchor="ctr">
                    <a:solidFill>
                      <a:srgbClr val="FFFFFF"/>
                    </a:solidFill>
                  </a:tcPr>
                </a:tc>
                <a:tc>
                  <a:txBody>
                    <a:bodyPr wrap="square"/>
                    <a:lstStyle/>
                    <a:p>
                      <a:r>
                        <a:rPr sz="1200" b="0">
                          <a:solidFill>
                            <a:srgbClr val="1B1B1B"/>
                          </a:solidFill>
                          <a:latin typeface="Trebuchet MS"/>
                        </a:rPr>
                        <a:t>tsc, ESLint, Next.js</a:t>
                      </a:r>
                    </a:p>
                  </a:txBody>
                  <a:tcPr marL="73152" marR="73152" marT="36576" marB="36576" anchor="ctr">
                    <a:solidFill>
                      <a:srgbClr val="FFFFFF"/>
                    </a:solidFill>
                  </a:tcPr>
                </a:tc>
                <a:tc>
                  <a:txBody>
                    <a:bodyPr wrap="square"/>
                    <a:lstStyle/>
                    <a:p>
                      <a:r>
                        <a:rPr sz="1200" b="0">
                          <a:solidFill>
                            <a:srgbClr val="1B1B1B"/>
                          </a:solidFill>
                          <a:latin typeface="Trebuchet MS"/>
                        </a:rPr>
                        <a:t>pass, 7 pages</a:t>
                      </a:r>
                    </a:p>
                  </a:txBody>
                  <a:tcPr marL="73152" marR="73152" marT="36576" marB="36576" anchor="ctr">
                    <a:solidFill>
                      <a:srgbClr val="FFFFFF"/>
                    </a:solidFill>
                  </a:tcPr>
                </a:tc>
              </a:tr>
              <a:tr h="457200">
                <a:tc>
                  <a:txBody>
                    <a:bodyPr wrap="square"/>
                    <a:lstStyle/>
                    <a:p>
                      <a:r>
                        <a:rPr sz="1200" b="1">
                          <a:solidFill>
                            <a:srgbClr val="1B1B1B"/>
                          </a:solidFill>
                          <a:latin typeface="Trebuchet MS"/>
                        </a:rPr>
                        <a:t>Integration (manual)</a:t>
                      </a:r>
                    </a:p>
                  </a:txBody>
                  <a:tcPr marL="73152" marR="73152" marT="36576" marB="36576" anchor="ctr">
                    <a:solidFill>
                      <a:srgbClr val="E8EEFB"/>
                    </a:solidFill>
                  </a:tcPr>
                </a:tc>
                <a:tc>
                  <a:txBody>
                    <a:bodyPr wrap="square"/>
                    <a:lstStyle/>
                    <a:p>
                      <a:r>
                        <a:rPr sz="1200" b="0">
                          <a:solidFill>
                            <a:srgbClr val="1B1B1B"/>
                          </a:solidFill>
                          <a:latin typeface="Trebuchet MS"/>
                        </a:rPr>
                        <a:t>brief to dashboard to platform status, in a real browser</a:t>
                      </a:r>
                    </a:p>
                  </a:txBody>
                  <a:tcPr marL="73152" marR="73152" marT="36576" marB="36576" anchor="ctr">
                    <a:solidFill>
                      <a:srgbClr val="E8EEFB"/>
                    </a:solidFill>
                  </a:tcPr>
                </a:tc>
                <a:tc>
                  <a:txBody>
                    <a:bodyPr wrap="square"/>
                    <a:lstStyle/>
                    <a:p>
                      <a:r>
                        <a:rPr sz="1200" b="0">
                          <a:solidFill>
                            <a:srgbClr val="1B1B1B"/>
                          </a:solidFill>
                          <a:latin typeface="Trebuchet MS"/>
                        </a:rPr>
                        <a:t>browser</a:t>
                      </a:r>
                    </a:p>
                  </a:txBody>
                  <a:tcPr marL="73152" marR="73152" marT="36576" marB="36576" anchor="ctr">
                    <a:solidFill>
                      <a:srgbClr val="E8EEFB"/>
                    </a:solidFill>
                  </a:tcPr>
                </a:tc>
                <a:tc>
                  <a:txBody>
                    <a:bodyPr wrap="square"/>
                    <a:lstStyle/>
                    <a:p>
                      <a:r>
                        <a:rPr sz="1200" b="0">
                          <a:solidFill>
                            <a:srgbClr val="1B1B1B"/>
                          </a:solidFill>
                          <a:latin typeface="Trebuchet MS"/>
                        </a:rPr>
                        <a:t>checked</a:t>
                      </a:r>
                    </a:p>
                  </a:txBody>
                  <a:tcPr marL="73152" marR="73152" marT="36576" marB="36576" anchor="ctr">
                    <a:solidFill>
                      <a:srgbClr val="E8EEFB"/>
                    </a:solidFill>
                  </a:tcPr>
                </a:tc>
              </a:tr>
              <a:tr h="457200">
                <a:tc>
                  <a:txBody>
                    <a:bodyPr wrap="square"/>
                    <a:lstStyle/>
                    <a:p>
                      <a:r>
                        <a:rPr sz="1200" b="1">
                          <a:solidFill>
                            <a:srgbClr val="1B1B1B"/>
                          </a:solidFill>
                          <a:latin typeface="Trebuchet MS"/>
                        </a:rPr>
                        <a:t>Data validation</a:t>
                      </a:r>
                    </a:p>
                  </a:txBody>
                  <a:tcPr marL="73152" marR="73152" marT="36576" marB="36576" anchor="ctr">
                    <a:solidFill>
                      <a:srgbClr val="FFFFFF"/>
                    </a:solidFill>
                  </a:tcPr>
                </a:tc>
                <a:tc>
                  <a:txBody>
                    <a:bodyPr wrap="square"/>
                    <a:lstStyle/>
                    <a:p>
                      <a:r>
                        <a:rPr sz="1200" b="0">
                          <a:solidFill>
                            <a:srgbClr val="1B1B1B"/>
                          </a:solidFill>
                          <a:latin typeface="Trebuchet MS"/>
                        </a:rPr>
                        <a:t>owner audit, duplicates, human label checks, backups</a:t>
                      </a:r>
                    </a:p>
                  </a:txBody>
                  <a:tcPr marL="73152" marR="73152" marT="36576" marB="36576" anchor="ctr">
                    <a:solidFill>
                      <a:srgbClr val="FFFFFF"/>
                    </a:solidFill>
                  </a:tcPr>
                </a:tc>
                <a:tc>
                  <a:txBody>
                    <a:bodyPr wrap="square"/>
                    <a:lstStyle/>
                    <a:p>
                      <a:r>
                        <a:rPr sz="1200" b="0">
                          <a:solidFill>
                            <a:srgbClr val="1B1B1B"/>
                          </a:solidFill>
                          <a:latin typeface="Trebuchet MS"/>
                        </a:rPr>
                        <a:t>SQL, scripts</a:t>
                      </a:r>
                    </a:p>
                  </a:txBody>
                  <a:tcPr marL="73152" marR="73152" marT="36576" marB="36576" anchor="ctr">
                    <a:solidFill>
                      <a:srgbClr val="FFFFFF"/>
                    </a:solidFill>
                  </a:tcPr>
                </a:tc>
                <a:tc>
                  <a:txBody>
                    <a:bodyPr wrap="square"/>
                    <a:lstStyle/>
                    <a:p>
                      <a:r>
                        <a:rPr sz="1200" b="0">
                          <a:solidFill>
                            <a:srgbClr val="1B1B1B"/>
                          </a:solidFill>
                          <a:latin typeface="Trebuchet MS"/>
                        </a:rPr>
                        <a:t>see results</a:t>
                      </a:r>
                    </a:p>
                  </a:txBody>
                  <a:tcPr marL="73152" marR="73152" marT="36576" marB="36576" anchor="ctr">
                    <a:solidFill>
                      <a:srgbClr val="FFFFFF"/>
                    </a:solidFill>
                  </a:tcPr>
                </a:tc>
              </a:tr>
              <a:tr h="457200">
                <a:tc>
                  <a:txBody>
                    <a:bodyPr wrap="square"/>
                    <a:lstStyle/>
                    <a:p>
                      <a:r>
                        <a:rPr sz="1200" b="1">
                          <a:solidFill>
                            <a:srgbClr val="1B1B1B"/>
                          </a:solidFill>
                          <a:latin typeface="Trebuchet MS"/>
                        </a:rPr>
                        <a:t>Statistical validation</a:t>
                      </a:r>
                    </a:p>
                  </a:txBody>
                  <a:tcPr marL="73152" marR="73152" marT="36576" marB="36576" anchor="ctr">
                    <a:solidFill>
                      <a:srgbClr val="E8EEFB"/>
                    </a:solidFill>
                  </a:tcPr>
                </a:tc>
                <a:tc>
                  <a:txBody>
                    <a:bodyPr wrap="square"/>
                    <a:lstStyle/>
                    <a:p>
                      <a:r>
                        <a:rPr sz="1200" b="0">
                          <a:solidFill>
                            <a:srgbClr val="1B1B1B"/>
                          </a:solidFill>
                          <a:latin typeface="Trebuchet MS"/>
                        </a:rPr>
                        <a:t>placebo test, dose-response, simulated planted effects</a:t>
                      </a:r>
                    </a:p>
                  </a:txBody>
                  <a:tcPr marL="73152" marR="73152" marT="36576" marB="36576" anchor="ctr">
                    <a:solidFill>
                      <a:srgbClr val="E8EEFB"/>
                    </a:solidFill>
                  </a:tcPr>
                </a:tc>
                <a:tc>
                  <a:txBody>
                    <a:bodyPr wrap="square"/>
                    <a:lstStyle/>
                    <a:p>
                      <a:r>
                        <a:rPr sz="1200" b="0">
                          <a:solidFill>
                            <a:srgbClr val="1B1B1B"/>
                          </a:solidFill>
                          <a:latin typeface="Trebuchet MS"/>
                        </a:rPr>
                        <a:t>Python, numpy</a:t>
                      </a:r>
                    </a:p>
                  </a:txBody>
                  <a:tcPr marL="73152" marR="73152" marT="36576" marB="36576" anchor="ctr">
                    <a:solidFill>
                      <a:srgbClr val="E8EEFB"/>
                    </a:solidFill>
                  </a:tcPr>
                </a:tc>
                <a:tc>
                  <a:txBody>
                    <a:bodyPr wrap="square"/>
                    <a:lstStyle/>
                    <a:p>
                      <a:r>
                        <a:rPr sz="1200" b="0">
                          <a:solidFill>
                            <a:srgbClr val="1B1B1B"/>
                          </a:solidFill>
                          <a:latin typeface="Trebuchet MS"/>
                        </a:rPr>
                        <a:t>see results</a:t>
                      </a:r>
                    </a:p>
                  </a:txBody>
                  <a:tcPr marL="73152" marR="73152" marT="36576" marB="36576" anchor="ctr">
                    <a:solidFill>
                      <a:srgbClr val="E8EEFB"/>
                    </a:solidFill>
                  </a:tcPr>
                </a:tc>
              </a:tr>
            </a:tbl>
          </a:graphicData>
        </a:graphic>
      </p:graphicFrame>
      <p:sp>
        <p:nvSpPr>
          <p:cNvPr id="16" name="environment"/>
          <p:cNvSpPr txBox="1"/>
          <p:nvPr/>
        </p:nvSpPr>
        <p:spPr>
          <a:xfrm>
            <a:off x="640080" y="5532120"/>
            <a:ext cx="10881360" cy="822960"/>
          </a:xfrm>
          <a:prstGeom prst="rect">
            <a:avLst/>
          </a:prstGeom>
          <a:noFill/>
        </p:spPr>
        <p:txBody>
          <a:bodyPr wrap="square" lIns="0" rIns="0" tIns="0" bIns="0" anchor="t">
            <a:spAutoFit/>
          </a:bodyPr>
          <a:lstStyle/>
          <a:p>
            <a:pPr algn="l">
              <a:spcAft>
                <a:spcPts val="400"/>
              </a:spcAft>
            </a:pPr>
            <a:r>
              <a:rPr sz="1200" b="1">
                <a:solidFill>
                  <a:srgbClr val="0033CC"/>
                </a:solidFill>
                <a:latin typeface="Trebuchet MS"/>
              </a:rPr>
              <a:t>Environment and roles: </a:t>
            </a:r>
            <a:r>
              <a:rPr sz="1200" b="0">
                <a:solidFill>
                  <a:srgbClr val="0033CC"/>
                </a:solidFill>
                <a:latin typeface="Trebuchet MS"/>
              </a:rPr>
              <a:t>tests run on the developers' laptops against a shared Supabase database; Shimona tests data, temporal analysis and the app, Eesha the GAIL model, Akshat the infrastructure and gate scripts, [to fill: Abhyudyay's role]. All tools are open source.</a:t>
            </a:r>
          </a:p>
        </p:txBody>
      </p:sp>
    </p:spTree>
    <p:extLst>
      <p:ext uri="{BB962C8B-B14F-4D97-AF65-F5344CB8AC3E}">
        <p14:creationId xmlns:p14="http://schemas.microsoft.com/office/powerpoint/2010/main" val="4205369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900" lvl="0" indent="-342900" algn="r">
              <a:spcBef>
                <a:spcPts val="0"/>
              </a:spcBef>
              <a:spcAft>
                <a:spcPts val="0"/>
              </a:spcAft>
            </a:pPr>
            <a:r>
              <a:rPr lang="en-US" sz="2400" dirty="0">
                <a:solidFill>
                  <a:srgbClr val="FF0000"/>
                </a:solidFill>
                <a:latin typeface="Trebuchet MS"/>
                <a:ea typeface="Trebuchet MS"/>
                <a:cs typeface="Trebuchet MS"/>
                <a:sym typeface="Trebuchet MS"/>
              </a:rPr>
              <a:t>Results and Discussion (1 of 2): data, labels, graph</a:t>
            </a:r>
            <a:endParaRPr lang="en-US" sz="2400" dirty="0"/>
          </a:p>
        </p:txBody>
      </p:sp>
      <p:graphicFrame>
        <p:nvGraphicFramePr>
          <p:cNvPr id="4" name="chart"/>
          <p:cNvGraphicFramePr>
            <a:graphicFrameLocks noGrp="1"/>
          </p:cNvGraphicFramePr>
          <p:nvPr/>
        </p:nvGraphicFramePr>
        <p:xfrm>
          <a:off x="548640" y="1737360"/>
          <a:ext cx="5760720" cy="3291840"/>
        </p:xfrm>
        <a:graphic>
          <a:graphicData uri="http://schemas.openxmlformats.org/drawingml/2006/chart">
            <c:chart xmlns:c="http://schemas.openxmlformats.org/drawingml/2006/chart" r:id="rId2"/>
          </a:graphicData>
        </a:graphic>
      </p:graphicFrame>
      <p:graphicFrame>
        <p:nvGraphicFramePr>
          <p:cNvPr id="5" name="chart"/>
          <p:cNvGraphicFramePr>
            <a:graphicFrameLocks noGrp="1"/>
          </p:cNvGraphicFramePr>
          <p:nvPr/>
        </p:nvGraphicFramePr>
        <p:xfrm>
          <a:off x="6492240" y="1737360"/>
          <a:ext cx="5120640" cy="3291840"/>
        </p:xfrm>
        <a:graphic>
          <a:graphicData uri="http://schemas.openxmlformats.org/drawingml/2006/chart">
            <c:chart xmlns:c="http://schemas.openxmlformats.org/drawingml/2006/chart" r:id="rId3"/>
          </a:graphicData>
        </a:graphic>
      </p:graphicFrame>
      <p:sp>
        <p:nvSpPr>
          <p:cNvPr id="6" name="results text 1"/>
          <p:cNvSpPr txBox="1"/>
          <p:nvPr/>
        </p:nvSpPr>
        <p:spPr>
          <a:xfrm>
            <a:off x="640080" y="5120640"/>
            <a:ext cx="10972800" cy="1234440"/>
          </a:xfrm>
          <a:prstGeom prst="rect">
            <a:avLst/>
          </a:prstGeom>
          <a:noFill/>
        </p:spPr>
        <p:txBody>
          <a:bodyPr wrap="square" lIns="0" rIns="0" tIns="0" bIns="0" anchor="t">
            <a:spAutoFit/>
          </a:bodyPr>
          <a:lstStyle/>
          <a:p>
            <a:pPr algn="l" marL="274320" indent="-274320">
              <a:spcAft>
                <a:spcPts val="400"/>
              </a:spcAft>
              <a:buFont typeface="Wingdings" pitchFamily="2" charset="2"/>
              <a:buChar char="§"/>
            </a:pPr>
            <a:r>
              <a:rPr sz="1200" b="0">
                <a:solidFill>
                  <a:srgbClr val="0033CC"/>
                </a:solidFill>
                <a:latin typeface="Trebuchet MS"/>
              </a:rPr>
              <a:t>Strong evidence tiers are almost always right (73 of 75 checked one by one, 91 to 99%), but that is only 4% of events; a text-only reading of weak tiers finds 61%, so their precision lies between about 60% and 95%.</a:t>
            </a:r>
          </a:p>
          <a:p>
            <a:pPr algn="l" marL="274320" indent="-274320">
              <a:spcAft>
                <a:spcPts val="400"/>
              </a:spcAft>
              <a:buFont typeface="Wingdings" pitchFamily="2" charset="2"/>
              <a:buChar char="§"/>
            </a:pPr>
            <a:r>
              <a:rPr sz="1200" b="0">
                <a:solidFill>
                  <a:srgbClr val="0033CC"/>
                </a:solidFill>
                <a:latin typeface="Trebuchet MS"/>
              </a:rPr>
              <a:t>Graph links grew from 17 to 95 of 150 creators; most are 'same brand' links (only 7 real collaboration pairs), so we call the graph exploratory.</a:t>
            </a:r>
          </a:p>
          <a:p>
            <a:pPr algn="l" marL="274320" indent="-274320">
              <a:spcAft>
                <a:spcPts val="400"/>
              </a:spcAft>
              <a:buFont typeface="Wingdings" pitchFamily="2" charset="2"/>
              <a:buChar char="§"/>
            </a:pPr>
            <a:r>
              <a:rPr sz="1200" b="0">
                <a:solidFill>
                  <a:srgbClr val="0033CC"/>
                </a:solidFill>
                <a:latin typeface="Trebuchet MS"/>
              </a:rPr>
              <a:t>Data: 59,300 YouTube videos, 270,357 growth readings, 1,857 sponsorship events.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900" lvl="0" indent="-342900" algn="r">
              <a:spcBef>
                <a:spcPts val="0"/>
              </a:spcBef>
              <a:spcAft>
                <a:spcPts val="0"/>
              </a:spcAft>
            </a:pPr>
            <a:r>
              <a:rPr lang="en-US" sz="2400" dirty="0">
                <a:solidFill>
                  <a:srgbClr val="FF0000"/>
                </a:solidFill>
                <a:latin typeface="Trebuchet MS"/>
                <a:ea typeface="Trebuchet MS"/>
                <a:cs typeface="Trebuchet MS"/>
                <a:sym typeface="Trebuchet MS"/>
              </a:rPr>
              <a:t>Timeline – Update on Tasks</a:t>
            </a:r>
            <a:endParaRPr lang="en-US" sz="2400" dirty="0"/>
          </a:p>
        </p:txBody>
      </p:sp>
      <p:graphicFrame>
        <p:nvGraphicFramePr>
          <p:cNvPr id="4" name="timeline"/>
          <p:cNvGraphicFramePr>
            <a:graphicFrameLocks noGrp="1"/>
          </p:cNvGraphicFramePr>
          <p:nvPr/>
        </p:nvGraphicFramePr>
        <p:xfrm>
          <a:off x="640080" y="1783080"/>
          <a:ext cx="10881360" cy="4096512"/>
        </p:xfrm>
        <a:graphic>
          <a:graphicData uri="http://schemas.openxmlformats.org/drawingml/2006/table">
            <a:tbl>
              <a:tblPr firstRow="1" bandRow="0">
                <a:tableStyleId>{2D5ABB26-0587-4C30-8999-92F81FD0307C}</a:tableStyleId>
              </a:tblPr>
              <a:tblGrid>
                <a:gridCol w="1737360"/>
                <a:gridCol w="7406640"/>
                <a:gridCol w="1737360"/>
              </a:tblGrid>
              <a:tr h="512064">
                <a:tc>
                  <a:txBody>
                    <a:bodyPr wrap="square"/>
                    <a:lstStyle/>
                    <a:p>
                      <a:r>
                        <a:rPr sz="1200" b="1">
                          <a:solidFill>
                            <a:srgbClr val="FFFFFF"/>
                          </a:solidFill>
                          <a:latin typeface="Trebuchet MS"/>
                        </a:rPr>
                        <a:t>Period</a:t>
                      </a:r>
                    </a:p>
                  </a:txBody>
                  <a:tcPr marL="73152" marR="73152" marT="36576" marB="36576" anchor="ctr">
                    <a:solidFill>
                      <a:srgbClr val="0033CC"/>
                    </a:solidFill>
                  </a:tcPr>
                </a:tc>
                <a:tc>
                  <a:txBody>
                    <a:bodyPr wrap="square"/>
                    <a:lstStyle/>
                    <a:p>
                      <a:r>
                        <a:rPr sz="1200" b="1">
                          <a:solidFill>
                            <a:srgbClr val="FFFFFF"/>
                          </a:solidFill>
                          <a:latin typeface="Trebuchet MS"/>
                        </a:rPr>
                        <a:t>Tasks</a:t>
                      </a:r>
                    </a:p>
                  </a:txBody>
                  <a:tcPr marL="73152" marR="73152" marT="36576" marB="36576" anchor="ctr">
                    <a:solidFill>
                      <a:srgbClr val="0033CC"/>
                    </a:solidFill>
                  </a:tcPr>
                </a:tc>
                <a:tc>
                  <a:txBody>
                    <a:bodyPr wrap="square"/>
                    <a:lstStyle/>
                    <a:p>
                      <a:r>
                        <a:rPr sz="1200" b="1">
                          <a:solidFill>
                            <a:srgbClr val="FFFFFF"/>
                          </a:solidFill>
                          <a:latin typeface="Trebuchet MS"/>
                        </a:rPr>
                        <a:t>Status</a:t>
                      </a:r>
                    </a:p>
                  </a:txBody>
                  <a:tcPr marL="73152" marR="73152" marT="36576" marB="36576" anchor="ctr">
                    <a:solidFill>
                      <a:srgbClr val="0033CC"/>
                    </a:solidFill>
                  </a:tcPr>
                </a:tc>
              </a:tr>
              <a:tr h="512064">
                <a:tc>
                  <a:txBody>
                    <a:bodyPr wrap="square"/>
                    <a:lstStyle/>
                    <a:p>
                      <a:r>
                        <a:rPr sz="1200" b="1">
                          <a:solidFill>
                            <a:srgbClr val="1B1B1B"/>
                          </a:solidFill>
                          <a:latin typeface="Trebuchet MS"/>
                        </a:rPr>
                        <a:t>Aug 2026</a:t>
                      </a:r>
                    </a:p>
                  </a:txBody>
                  <a:tcPr marL="73152" marR="73152" marT="36576" marB="36576" anchor="ctr">
                    <a:solidFill>
                      <a:srgbClr val="E8EEFB"/>
                    </a:solidFill>
                  </a:tcPr>
                </a:tc>
                <a:tc>
                  <a:txBody>
                    <a:bodyPr wrap="square"/>
                    <a:lstStyle/>
                    <a:p>
                      <a:r>
                        <a:rPr sz="1200" b="0">
                          <a:solidFill>
                            <a:srgbClr val="1B1B1B"/>
                          </a:solidFill>
                          <a:latin typeface="Trebuchet MS"/>
                        </a:rPr>
                        <a:t>Schema, ingestion, graph, feature store, first GAIL run, Review 1 (closed 26 Aug)</a:t>
                      </a:r>
                    </a:p>
                  </a:txBody>
                  <a:tcPr marL="73152" marR="73152" marT="36576" marB="36576" anchor="ctr">
                    <a:solidFill>
                      <a:srgbClr val="E8EEFB"/>
                    </a:solidFill>
                  </a:tcPr>
                </a:tc>
                <a:tc>
                  <a:txBody>
                    <a:bodyPr wrap="square"/>
                    <a:lstStyle/>
                    <a:p>
                      <a:r>
                        <a:rPr sz="1200" b="0">
                          <a:solidFill>
                            <a:srgbClr val="1B1B1B"/>
                          </a:solidFill>
                          <a:latin typeface="Trebuchet MS"/>
                        </a:rPr>
                        <a:t>Done</a:t>
                      </a:r>
                    </a:p>
                  </a:txBody>
                  <a:tcPr marL="73152" marR="73152" marT="36576" marB="36576" anchor="ctr">
                    <a:solidFill>
                      <a:srgbClr val="E8EEFB"/>
                    </a:solidFill>
                  </a:tcPr>
                </a:tc>
              </a:tr>
              <a:tr h="512064">
                <a:tc>
                  <a:txBody>
                    <a:bodyPr wrap="square"/>
                    <a:lstStyle/>
                    <a:p>
                      <a:r>
                        <a:rPr sz="1200" b="1">
                          <a:solidFill>
                            <a:srgbClr val="1B1B1B"/>
                          </a:solidFill>
                          <a:latin typeface="Trebuchet MS"/>
                        </a:rPr>
                        <a:t>Sep 2026</a:t>
                      </a:r>
                    </a:p>
                  </a:txBody>
                  <a:tcPr marL="73152" marR="73152" marT="36576" marB="36576" anchor="ctr">
                    <a:solidFill>
                      <a:srgbClr val="FFFFFF"/>
                    </a:solidFill>
                  </a:tcPr>
                </a:tc>
                <a:tc>
                  <a:txBody>
                    <a:bodyPr wrap="square"/>
                    <a:lstStyle/>
                    <a:p>
                      <a:r>
                        <a:rPr sz="1200" b="0">
                          <a:solidFill>
                            <a:srgbClr val="1B1B1B"/>
                          </a:solidFill>
                          <a:latin typeface="Trebuchet MS"/>
                        </a:rPr>
                        <a:t>Fusion layer, live API and web app, GAIL trained on 10 examples</a:t>
                      </a:r>
                    </a:p>
                  </a:txBody>
                  <a:tcPr marL="73152" marR="73152" marT="36576" marB="36576" anchor="ctr">
                    <a:solidFill>
                      <a:srgbClr val="FFFFFF"/>
                    </a:solidFill>
                  </a:tcPr>
                </a:tc>
                <a:tc>
                  <a:txBody>
                    <a:bodyPr wrap="square"/>
                    <a:lstStyle/>
                    <a:p>
                      <a:r>
                        <a:rPr sz="1200" b="0">
                          <a:solidFill>
                            <a:srgbClr val="1B1B1B"/>
                          </a:solidFill>
                          <a:latin typeface="Trebuchet MS"/>
                        </a:rPr>
                        <a:t>Done</a:t>
                      </a:r>
                    </a:p>
                  </a:txBody>
                  <a:tcPr marL="73152" marR="73152" marT="36576" marB="36576" anchor="ctr">
                    <a:solidFill>
                      <a:srgbClr val="FFFFFF"/>
                    </a:solidFill>
                  </a:tcPr>
                </a:tc>
              </a:tr>
              <a:tr h="512064">
                <a:tc>
                  <a:txBody>
                    <a:bodyPr wrap="square"/>
                    <a:lstStyle/>
                    <a:p>
                      <a:r>
                        <a:rPr sz="1200" b="1">
                          <a:solidFill>
                            <a:srgbClr val="1B1B1B"/>
                          </a:solidFill>
                          <a:latin typeface="Trebuchet MS"/>
                        </a:rPr>
                        <a:t>Early Oct</a:t>
                      </a:r>
                    </a:p>
                  </a:txBody>
                  <a:tcPr marL="73152" marR="73152" marT="36576" marB="36576" anchor="ctr">
                    <a:solidFill>
                      <a:srgbClr val="E8EEFB"/>
                    </a:solidFill>
                  </a:tcPr>
                </a:tc>
                <a:tc>
                  <a:txBody>
                    <a:bodyPr wrap="square"/>
                    <a:lstStyle/>
                    <a:p>
                      <a:r>
                        <a:rPr sz="1200" b="0">
                          <a:solidFill>
                            <a:srgbClr val="1B1B1B"/>
                          </a:solidFill>
                          <a:latin typeface="Trebuchet MS"/>
                        </a:rPr>
                        <a:t>Temporal branch (sentiment, lag), CLIP/BERT features, calibration report, filters, linking, Analysis tab</a:t>
                      </a:r>
                    </a:p>
                  </a:txBody>
                  <a:tcPr marL="73152" marR="73152" marT="36576" marB="36576" anchor="ctr">
                    <a:solidFill>
                      <a:srgbClr val="E8EEFB"/>
                    </a:solidFill>
                  </a:tcPr>
                </a:tc>
                <a:tc>
                  <a:txBody>
                    <a:bodyPr wrap="square"/>
                    <a:lstStyle/>
                    <a:p>
                      <a:r>
                        <a:rPr sz="1200" b="0">
                          <a:solidFill>
                            <a:srgbClr val="1B1B1B"/>
                          </a:solidFill>
                          <a:latin typeface="Trebuchet MS"/>
                        </a:rPr>
                        <a:t>Done</a:t>
                      </a:r>
                    </a:p>
                  </a:txBody>
                  <a:tcPr marL="73152" marR="73152" marT="36576" marB="36576" anchor="ctr">
                    <a:solidFill>
                      <a:srgbClr val="E8EEFB"/>
                    </a:solidFill>
                  </a:tcPr>
                </a:tc>
              </a:tr>
              <a:tr h="512064">
                <a:tc>
                  <a:txBody>
                    <a:bodyPr wrap="square"/>
                    <a:lstStyle/>
                    <a:p>
                      <a:r>
                        <a:rPr sz="1200" b="1">
                          <a:solidFill>
                            <a:srgbClr val="1B1B1B"/>
                          </a:solidFill>
                          <a:latin typeface="Trebuchet MS"/>
                        </a:rPr>
                        <a:t>11-26 Oct</a:t>
                      </a:r>
                    </a:p>
                  </a:txBody>
                  <a:tcPr marL="73152" marR="73152" marT="36576" marB="36576" anchor="ctr">
                    <a:solidFill>
                      <a:srgbClr val="FFFFFF"/>
                    </a:solidFill>
                  </a:tcPr>
                </a:tc>
                <a:tc>
                  <a:txBody>
                    <a:bodyPr wrap="square"/>
                    <a:lstStyle/>
                    <a:p>
                      <a:r>
                        <a:rPr sz="1200" b="0">
                          <a:solidFill>
                            <a:srgbClr val="1B1B1B"/>
                          </a:solidFill>
                          <a:latin typeface="Trebuchet MS"/>
                        </a:rPr>
                        <a:t>Daily collection, 24-month YouTube history, labels and brands, links, placebo and simulated validation</a:t>
                      </a:r>
                    </a:p>
                  </a:txBody>
                  <a:tcPr marL="73152" marR="73152" marT="36576" marB="36576" anchor="ctr">
                    <a:solidFill>
                      <a:srgbClr val="FFFFFF"/>
                    </a:solidFill>
                  </a:tcPr>
                </a:tc>
                <a:tc>
                  <a:txBody>
                    <a:bodyPr wrap="square"/>
                    <a:lstStyle/>
                    <a:p>
                      <a:r>
                        <a:rPr sz="1200" b="0">
                          <a:solidFill>
                            <a:srgbClr val="1B1B1B"/>
                          </a:solidFill>
                          <a:latin typeface="Trebuchet MS"/>
                        </a:rPr>
                        <a:t>Done</a:t>
                      </a:r>
                    </a:p>
                  </a:txBody>
                  <a:tcPr marL="73152" marR="73152" marT="36576" marB="36576" anchor="ctr">
                    <a:solidFill>
                      <a:srgbClr val="FFFFFF"/>
                    </a:solidFill>
                  </a:tcPr>
                </a:tc>
              </a:tr>
              <a:tr h="512064">
                <a:tc>
                  <a:txBody>
                    <a:bodyPr wrap="square"/>
                    <a:lstStyle/>
                    <a:p>
                      <a:r>
                        <a:rPr sz="1200" b="1">
                          <a:solidFill>
                            <a:srgbClr val="1B1B1B"/>
                          </a:solidFill>
                          <a:latin typeface="Trebuchet MS"/>
                        </a:rPr>
                        <a:t>27 Oct</a:t>
                      </a:r>
                    </a:p>
                  </a:txBody>
                  <a:tcPr marL="73152" marR="73152" marT="36576" marB="36576" anchor="ctr">
                    <a:solidFill>
                      <a:srgbClr val="E8EEFB"/>
                    </a:solidFill>
                  </a:tcPr>
                </a:tc>
                <a:tc>
                  <a:txBody>
                    <a:bodyPr wrap="square"/>
                    <a:lstStyle/>
                    <a:p>
                      <a:r>
                        <a:rPr sz="1200" b="0">
                          <a:solidFill>
                            <a:srgbClr val="1B1B1B"/>
                          </a:solidFill>
                          <a:latin typeface="Trebuchet MS"/>
                        </a:rPr>
                        <a:t>Platform status in the app, handoff, training files exported</a:t>
                      </a:r>
                    </a:p>
                  </a:txBody>
                  <a:tcPr marL="73152" marR="73152" marT="36576" marB="36576" anchor="ctr">
                    <a:solidFill>
                      <a:srgbClr val="E8EEFB"/>
                    </a:solidFill>
                  </a:tcPr>
                </a:tc>
                <a:tc>
                  <a:txBody>
                    <a:bodyPr wrap="square"/>
                    <a:lstStyle/>
                    <a:p>
                      <a:r>
                        <a:rPr sz="1200" b="0">
                          <a:solidFill>
                            <a:srgbClr val="1B1B1B"/>
                          </a:solidFill>
                          <a:latin typeface="Trebuchet MS"/>
                        </a:rPr>
                        <a:t>Done</a:t>
                      </a:r>
                    </a:p>
                  </a:txBody>
                  <a:tcPr marL="73152" marR="73152" marT="36576" marB="36576" anchor="ctr">
                    <a:solidFill>
                      <a:srgbClr val="E8EEFB"/>
                    </a:solidFill>
                  </a:tcPr>
                </a:tc>
              </a:tr>
              <a:tr h="512064">
                <a:tc>
                  <a:txBody>
                    <a:bodyPr wrap="square"/>
                    <a:lstStyle/>
                    <a:p>
                      <a:r>
                        <a:rPr sz="1200" b="1">
                          <a:solidFill>
                            <a:srgbClr val="1B1B1B"/>
                          </a:solidFill>
                          <a:latin typeface="Trebuchet MS"/>
                        </a:rPr>
                        <a:t>28 Oct+</a:t>
                      </a:r>
                    </a:p>
                  </a:txBody>
                  <a:tcPr marL="73152" marR="73152" marT="36576" marB="36576" anchor="ctr">
                    <a:solidFill>
                      <a:srgbClr val="FFFFFF"/>
                    </a:solidFill>
                  </a:tcPr>
                </a:tc>
                <a:tc>
                  <a:txBody>
                    <a:bodyPr wrap="square"/>
                    <a:lstStyle/>
                    <a:p>
                      <a:r>
                        <a:rPr sz="1200" b="0">
                          <a:solidFill>
                            <a:srgbClr val="1B1B1B"/>
                          </a:solidFill>
                          <a:latin typeface="Trebuchet MS"/>
                        </a:rPr>
                        <a:t>GAIL retraining and held-out scoring (Eesha), fusion refresh</a:t>
                      </a:r>
                    </a:p>
                  </a:txBody>
                  <a:tcPr marL="73152" marR="73152" marT="36576" marB="36576" anchor="ctr">
                    <a:solidFill>
                      <a:srgbClr val="FFFFFF"/>
                    </a:solidFill>
                  </a:tcPr>
                </a:tc>
                <a:tc>
                  <a:txBody>
                    <a:bodyPr wrap="square"/>
                    <a:lstStyle/>
                    <a:p>
                      <a:r>
                        <a:rPr sz="1200" b="0">
                          <a:solidFill>
                            <a:srgbClr val="1B1B1B"/>
                          </a:solidFill>
                          <a:latin typeface="Trebuchet MS"/>
                        </a:rPr>
                        <a:t>In progress</a:t>
                      </a:r>
                    </a:p>
                  </a:txBody>
                  <a:tcPr marL="73152" marR="73152" marT="36576" marB="36576" anchor="ctr">
                    <a:solidFill>
                      <a:srgbClr val="FFFFFF"/>
                    </a:solidFill>
                  </a:tcPr>
                </a:tc>
              </a:tr>
              <a:tr h="512064">
                <a:tc>
                  <a:txBody>
                    <a:bodyPr wrap="square"/>
                    <a:lstStyle/>
                    <a:p>
                      <a:r>
                        <a:rPr sz="1200" b="1">
                          <a:solidFill>
                            <a:srgbClr val="1B1B1B"/>
                          </a:solidFill>
                          <a:latin typeface="Trebuchet MS"/>
                        </a:rPr>
                        <a:t>After review</a:t>
                      </a:r>
                    </a:p>
                  </a:txBody>
                  <a:tcPr marL="73152" marR="73152" marT="36576" marB="36576" anchor="ctr">
                    <a:solidFill>
                      <a:srgbClr val="E8EEFB"/>
                    </a:solidFill>
                  </a:tcPr>
                </a:tc>
                <a:tc>
                  <a:txBody>
                    <a:bodyPr wrap="square"/>
                    <a:lstStyle/>
                    <a:p>
                      <a:r>
                        <a:rPr sz="1200" b="0">
                          <a:solidFill>
                            <a:srgbClr val="1B1B1B"/>
                          </a:solidFill>
                          <a:latin typeface="Trebuchet MS"/>
                        </a:rPr>
                        <a:t>Docker run, load test, human label checks, thesis, deployable build</a:t>
                      </a:r>
                    </a:p>
                  </a:txBody>
                  <a:tcPr marL="73152" marR="73152" marT="36576" marB="36576" anchor="ctr">
                    <a:solidFill>
                      <a:srgbClr val="E8EEFB"/>
                    </a:solidFill>
                  </a:tcPr>
                </a:tc>
                <a:tc>
                  <a:txBody>
                    <a:bodyPr wrap="square"/>
                    <a:lstStyle/>
                    <a:p>
                      <a:r>
                        <a:rPr sz="1200" b="0">
                          <a:solidFill>
                            <a:srgbClr val="1B1B1B"/>
                          </a:solidFill>
                          <a:latin typeface="Trebuchet MS"/>
                        </a:rPr>
                        <a:t>Planned</a:t>
                      </a:r>
                    </a:p>
                  </a:txBody>
                  <a:tcPr marL="73152" marR="73152" marT="36576" marB="36576" anchor="ctr">
                    <a:solidFill>
                      <a:srgbClr val="E8EEFB"/>
                    </a:solidFill>
                  </a:tcPr>
                </a:tc>
              </a:tr>
            </a:tbl>
          </a:graphicData>
        </a:graphic>
      </p:graphicFrame>
      <p:sp>
        <p:nvSpPr>
          <p:cNvPr id="5" name="timeline note"/>
          <p:cNvSpPr txBox="1"/>
          <p:nvPr/>
        </p:nvSpPr>
        <p:spPr>
          <a:xfrm>
            <a:off x="640080" y="5989320"/>
            <a:ext cx="10881360" cy="365760"/>
          </a:xfrm>
          <a:prstGeom prst="rect">
            <a:avLst/>
          </a:prstGeom>
          <a:noFill/>
        </p:spPr>
        <p:txBody>
          <a:bodyPr wrap="square" lIns="0" rIns="0" tIns="0" bIns="0" anchor="t">
            <a:spAutoFit/>
          </a:bodyPr>
          <a:lstStyle/>
          <a:p>
            <a:pPr algn="l">
              <a:spcAft>
                <a:spcPts val="400"/>
              </a:spcAft>
            </a:pPr>
            <a:r>
              <a:rPr sz="1100" b="0">
                <a:solidFill>
                  <a:srgbClr val="5E6C73"/>
                </a:solidFill>
                <a:latin typeface="Trebuchet MS"/>
              </a:rPr>
              <a:t>Dates are monthly milestones from the project plan and the repository history.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900" lvl="0" indent="-342900" algn="r">
              <a:spcBef>
                <a:spcPts val="0"/>
              </a:spcBef>
              <a:spcAft>
                <a:spcPts val="0"/>
              </a:spcAft>
            </a:pPr>
            <a:r>
              <a:rPr lang="en-US" sz="2400" dirty="0">
                <a:solidFill>
                  <a:srgbClr val="FF0000"/>
                </a:solidFill>
                <a:latin typeface="Trebuchet MS"/>
                <a:ea typeface="Trebuchet MS"/>
                <a:cs typeface="Trebuchet MS"/>
                <a:sym typeface="Trebuchet MS"/>
              </a:rPr>
              <a:t>Conclusion and Future work</a:t>
            </a:r>
            <a:endParaRPr lang="en-US" sz="2400" dirty="0"/>
          </a:p>
        </p:txBody>
      </p:sp>
      <p:sp>
        <p:nvSpPr>
          <p:cNvPr id="4" name="conclusion"/>
          <p:cNvSpPr txBox="1"/>
          <p:nvPr/>
        </p:nvSpPr>
        <p:spPr>
          <a:xfrm>
            <a:off x="640080" y="1828800"/>
            <a:ext cx="5394960" cy="4480560"/>
          </a:xfrm>
          <a:prstGeom prst="rect">
            <a:avLst/>
          </a:prstGeom>
          <a:noFill/>
        </p:spPr>
        <p:txBody>
          <a:bodyPr wrap="square" lIns="0" rIns="0" tIns="0" bIns="0" anchor="t">
            <a:spAutoFit/>
          </a:bodyPr>
          <a:lstStyle/>
          <a:p>
            <a:pPr algn="l" marL="274320" indent="-274320">
              <a:spcAft>
                <a:spcPts val="700"/>
              </a:spcAft>
              <a:buFont typeface="Wingdings" pitchFamily="2" charset="2"/>
              <a:buChar char="§"/>
            </a:pPr>
            <a:r>
              <a:rPr sz="1300" b="1">
                <a:solidFill>
                  <a:srgbClr val="FF0000"/>
                </a:solidFill>
                <a:latin typeface="Trebuchet MS"/>
              </a:rPr>
              <a:t>Conclusion</a:t>
            </a:r>
          </a:p>
          <a:p>
            <a:pPr algn="l" marL="274320" indent="-274320">
              <a:spcAft>
                <a:spcPts val="700"/>
              </a:spcAft>
              <a:buFont typeface="Wingdings" pitchFamily="2" charset="2"/>
              <a:buChar char="§"/>
            </a:pPr>
            <a:r>
              <a:rPr sz="1300" b="0">
                <a:solidFill>
                  <a:srgbClr val="0033CC"/>
                </a:solidFill>
                <a:latin typeface="Trebuchet MS"/>
              </a:rPr>
              <a:t>A complete pipeline from daily data collection to a web app with ranked, explained scores.</a:t>
            </a:r>
          </a:p>
          <a:p>
            <a:pPr algn="l" marL="274320" indent="-274320">
              <a:spcAft>
                <a:spcPts val="700"/>
              </a:spcAft>
              <a:buFont typeface="Wingdings" pitchFamily="2" charset="2"/>
              <a:buChar char="§"/>
            </a:pPr>
            <a:r>
              <a:rPr sz="1300" b="0">
                <a:solidFill>
                  <a:srgbClr val="0033CC"/>
                </a:solidFill>
                <a:latin typeface="Trebuchet MS"/>
              </a:rPr>
              <a:t>Better data: 59,300 videos, 1,857 labelled events, 95 of 150 creators linked, 159 training examples.</a:t>
            </a:r>
          </a:p>
          <a:p>
            <a:pPr algn="l" marL="274320" indent="-274320">
              <a:spcAft>
                <a:spcPts val="700"/>
              </a:spcAft>
              <a:buFont typeface="Wingdings" pitchFamily="2" charset="2"/>
              <a:buChar char="§"/>
            </a:pPr>
            <a:r>
              <a:rPr sz="1300" b="0">
                <a:solidFill>
                  <a:srgbClr val="0033CC"/>
                </a:solidFill>
                <a:latin typeface="Trebuchet MS"/>
              </a:rPr>
              <a:t>Honest validation: the real data shows no broad spillover and simulations show our tests would have found one.</a:t>
            </a:r>
          </a:p>
          <a:p>
            <a:pPr algn="l" marL="274320" indent="-274320">
              <a:spcAft>
                <a:spcPts val="700"/>
              </a:spcAft>
              <a:buFont typeface="Wingdings" pitchFamily="2" charset="2"/>
              <a:buChar char="§"/>
            </a:pPr>
            <a:r>
              <a:rPr sz="1300" b="0">
                <a:solidFill>
                  <a:srgbClr val="0033CC"/>
                </a:solidFill>
                <a:latin typeface="Trebuchet MS"/>
              </a:rPr>
              <a:t>Known limits are stated, not hidden.</a:t>
            </a:r>
          </a:p>
        </p:txBody>
      </p:sp>
      <p:sp>
        <p:nvSpPr>
          <p:cNvPr id="5" name="future work"/>
          <p:cNvSpPr txBox="1"/>
          <p:nvPr/>
        </p:nvSpPr>
        <p:spPr>
          <a:xfrm>
            <a:off x="6309360" y="1828800"/>
            <a:ext cx="5303520" cy="4480560"/>
          </a:xfrm>
          <a:prstGeom prst="rect">
            <a:avLst/>
          </a:prstGeom>
          <a:noFill/>
        </p:spPr>
        <p:txBody>
          <a:bodyPr wrap="square" lIns="0" rIns="0" tIns="0" bIns="0" anchor="t">
            <a:spAutoFit/>
          </a:bodyPr>
          <a:lstStyle/>
          <a:p>
            <a:pPr algn="l" marL="274320" indent="-274320">
              <a:spcAft>
                <a:spcPts val="700"/>
              </a:spcAft>
              <a:buFont typeface="Wingdings" pitchFamily="2" charset="2"/>
              <a:buChar char="§"/>
            </a:pPr>
            <a:r>
              <a:rPr sz="1300" b="1">
                <a:solidFill>
                  <a:srgbClr val="FF0000"/>
                </a:solidFill>
                <a:latin typeface="Trebuchet MS"/>
              </a:rPr>
              <a:t>Future work</a:t>
            </a:r>
          </a:p>
          <a:p>
            <a:pPr algn="l" marL="274320" indent="-274320">
              <a:spcAft>
                <a:spcPts val="700"/>
              </a:spcAft>
              <a:buFont typeface="Wingdings" pitchFamily="2" charset="2"/>
              <a:buChar char="§"/>
            </a:pPr>
            <a:r>
              <a:rPr sz="1300" b="0">
                <a:solidFill>
                  <a:srgbClr val="0033CC"/>
                </a:solidFill>
                <a:latin typeface="Trebuchet MS"/>
              </a:rPr>
              <a:t>Retrain GAIL, then held-out scoring, acceptance check and fusion refresh.</a:t>
            </a:r>
          </a:p>
          <a:p>
            <a:pPr algn="l" marL="274320" indent="-274320">
              <a:spcAft>
                <a:spcPts val="700"/>
              </a:spcAft>
              <a:buFont typeface="Wingdings" pitchFamily="2" charset="2"/>
              <a:buChar char="§"/>
            </a:pPr>
            <a:r>
              <a:rPr sz="1300" b="0">
                <a:solidFill>
                  <a:srgbClr val="0033CC"/>
                </a:solidFill>
                <a:latin typeface="Trebuchet MS"/>
              </a:rPr>
              <a:t>Train also on the direct effect of sponsored posts (about 1,400 more events).</a:t>
            </a:r>
          </a:p>
          <a:p>
            <a:pPr algn="l" marL="274320" indent="-274320">
              <a:spcAft>
                <a:spcPts val="700"/>
              </a:spcAft>
              <a:buFont typeface="Wingdings" pitchFamily="2" charset="2"/>
              <a:buChar char="§"/>
            </a:pPr>
            <a:r>
              <a:rPr sz="1300" b="0">
                <a:solidFill>
                  <a:srgbClr val="0033CC"/>
                </a:solidFill>
                <a:latin typeface="Trebuchet MS"/>
              </a:rPr>
              <a:t>Per-platform normalisation, five random seeds, cross-fitting.</a:t>
            </a:r>
          </a:p>
          <a:p>
            <a:pPr algn="l" marL="274320" indent="-274320">
              <a:spcAft>
                <a:spcPts val="700"/>
              </a:spcAft>
              <a:buFont typeface="Wingdings" pitchFamily="2" charset="2"/>
              <a:buChar char="§"/>
            </a:pPr>
            <a:r>
              <a:rPr sz="1300" b="0">
                <a:solidFill>
                  <a:srgbClr val="0033CC"/>
                </a:solidFill>
                <a:latin typeface="Trebuchet MS"/>
              </a:rPr>
              <a:t>More Instagram counts and human label checks; Granger causality; rate card.</a:t>
            </a:r>
          </a:p>
          <a:p>
            <a:pPr algn="l" marL="274320" indent="-274320">
              <a:spcAft>
                <a:spcPts val="700"/>
              </a:spcAft>
              <a:buFont typeface="Wingdings" pitchFamily="2" charset="2"/>
              <a:buChar char="§"/>
            </a:pPr>
            <a:r>
              <a:rPr sz="1300" b="0">
                <a:solidFill>
                  <a:srgbClr val="0033CC"/>
                </a:solidFill>
                <a:latin typeface="Trebuchet MS"/>
              </a:rPr>
              <a:t>Docker, load test and security pass; thesis.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900" lvl="0" indent="-342900" algn="r">
              <a:spcBef>
                <a:spcPts val="0"/>
              </a:spcBef>
              <a:spcAft>
                <a:spcPts val="0"/>
              </a:spcAft>
            </a:pPr>
            <a:r>
              <a:rPr lang="en-US" sz="2400" dirty="0">
                <a:solidFill>
                  <a:srgbClr val="FF0000"/>
                </a:solidFill>
                <a:latin typeface="Trebuchet MS"/>
                <a:ea typeface="Trebuchet MS"/>
                <a:cs typeface="Trebuchet MS"/>
                <a:sym typeface="Trebuchet MS"/>
              </a:rPr>
              <a:t>References</a:t>
            </a:r>
            <a:endParaRPr lang="en-US" sz="2400" dirty="0"/>
          </a:p>
        </p:txBody>
      </p:sp>
      <p:sp>
        <p:nvSpPr>
          <p:cNvPr id="4" name="references"/>
          <p:cNvSpPr txBox="1"/>
          <p:nvPr/>
        </p:nvSpPr>
        <p:spPr>
          <a:xfrm>
            <a:off x="640080" y="1783080"/>
            <a:ext cx="10881360" cy="4572000"/>
          </a:xfrm>
          <a:prstGeom prst="rect">
            <a:avLst/>
          </a:prstGeom>
          <a:noFill/>
        </p:spPr>
        <p:txBody>
          <a:bodyPr wrap="square" lIns="0" rIns="0" tIns="0" bIns="0" anchor="t">
            <a:spAutoFit/>
          </a:bodyPr>
          <a:lstStyle/>
          <a:p>
            <a:pPr algn="l">
              <a:spcAft>
                <a:spcPts val="500"/>
              </a:spcAft>
            </a:pPr>
            <a:r>
              <a:rPr sz="1100" b="0">
                <a:solidFill>
                  <a:srgbClr val="1B1B1B"/>
                </a:solidFill>
                <a:latin typeface="Trebuchet MS"/>
              </a:rPr>
              <a:t>[1] P. Velickovic et al., "Graph attention networks," in Proc. ICLR, 2018.</a:t>
            </a:r>
          </a:p>
          <a:p>
            <a:pPr algn="l">
              <a:spcAft>
                <a:spcPts val="500"/>
              </a:spcAft>
            </a:pPr>
            <a:r>
              <a:rPr sz="1100" b="0">
                <a:solidFill>
                  <a:srgbClr val="1B1B1B"/>
                </a:solidFill>
                <a:latin typeface="Trebuchet MS"/>
              </a:rPr>
              <a:t>[2] M. Fey and J. E. Lenssen, "Fast graph representation learning with PyTorch Geometric," in ICLR Workshop on Representation Learning on Graphs and Manifolds, 2019.</a:t>
            </a:r>
          </a:p>
          <a:p>
            <a:pPr algn="l">
              <a:spcAft>
                <a:spcPts val="500"/>
              </a:spcAft>
            </a:pPr>
            <a:r>
              <a:rPr sz="1100" b="0">
                <a:solidFill>
                  <a:srgbClr val="1B1B1B"/>
                </a:solidFill>
                <a:latin typeface="Trebuchet MS"/>
              </a:rPr>
              <a:t>[3] J. Qiu, J. Tang, H. Ma, Y. Dong, K. Wang, and J. Tang, "DeepInf: Social influence prediction with deep learning," in Proc. ACM SIGKDD, 2018, pp. 2110-2119.</a:t>
            </a:r>
          </a:p>
          <a:p>
            <a:pPr algn="l">
              <a:spcAft>
                <a:spcPts val="500"/>
              </a:spcAft>
            </a:pPr>
            <a:r>
              <a:rPr sz="1100" b="0">
                <a:solidFill>
                  <a:srgbClr val="1B1B1B"/>
                </a:solidFill>
                <a:latin typeface="Trebuchet MS"/>
              </a:rPr>
              <a:t>[4] S. Kim, J.-Y. Jiang, J. Han, and W. Wang, "InfluencerRank: Discovering effective influencers via graph convolutional attentive recurrent neural networks," in Proc. ICWSM, vol. 17, no. 1, 2023, doi: 10.1609/icwsm.v17i1.22162.</a:t>
            </a:r>
          </a:p>
          <a:p>
            <a:pPr algn="l">
              <a:spcAft>
                <a:spcPts val="500"/>
              </a:spcAft>
            </a:pPr>
            <a:r>
              <a:rPr sz="1100" b="0">
                <a:solidFill>
                  <a:srgbClr val="1B1B1B"/>
                </a:solidFill>
                <a:latin typeface="Trebuchet MS"/>
              </a:rPr>
              <a:t>[5] M. G. Hudgens and M. E. Halloran, "Toward causal inference with interference," J. Amer. Statist. Assoc., vol. 103, no. 482, pp. 832-842, 2008.</a:t>
            </a:r>
          </a:p>
          <a:p>
            <a:pPr algn="l">
              <a:spcAft>
                <a:spcPts val="500"/>
              </a:spcAft>
            </a:pPr>
            <a:r>
              <a:rPr sz="1100" b="0">
                <a:solidFill>
                  <a:srgbClr val="1B1B1B"/>
                </a:solidFill>
                <a:latin typeface="Trebuchet MS"/>
              </a:rPr>
              <a:t>[6] P. R. Rosenbaum and D. B. Rubin, "The central role of the propensity score in observational studies for causal effects," Biometrika, vol. 70, no. 1, pp. 41-55, 1983.</a:t>
            </a:r>
          </a:p>
          <a:p>
            <a:pPr algn="l">
              <a:spcAft>
                <a:spcPts val="500"/>
              </a:spcAft>
            </a:pPr>
            <a:r>
              <a:rPr sz="1100" b="0">
                <a:solidFill>
                  <a:srgbClr val="1B1B1B"/>
                </a:solidFill>
                <a:latin typeface="Trebuchet MS"/>
              </a:rPr>
              <a:t>[7] J. M. Robins, A. Rotnitzky, and L. P. Zhao, "Estimation of regression coefficients when some regressors are not always observed," J. Amer. Statist. Assoc., vol. 89, no. 427, pp. 846-866, 1994.</a:t>
            </a:r>
          </a:p>
          <a:p>
            <a:pPr algn="l">
              <a:spcAft>
                <a:spcPts val="500"/>
              </a:spcAft>
            </a:pPr>
            <a:r>
              <a:rPr sz="1100" b="0">
                <a:solidFill>
                  <a:srgbClr val="1B1B1B"/>
                </a:solidFill>
                <a:latin typeface="Trebuchet MS"/>
              </a:rPr>
              <a:t>[8] V. Chernozhukov et al., "Double/debiased machine learning for treatment and structural parameters," Econometrics J., vol. 21, no. 1, pp. C1-C68, 2018.</a:t>
            </a:r>
          </a:p>
          <a:p>
            <a:pPr algn="l">
              <a:spcAft>
                <a:spcPts val="500"/>
              </a:spcAft>
            </a:pPr>
            <a:r>
              <a:rPr sz="1100" b="0">
                <a:solidFill>
                  <a:srgbClr val="1B1B1B"/>
                </a:solidFill>
                <a:latin typeface="Trebuchet MS"/>
              </a:rPr>
              <a:t>[9] A. Radford et al., "Learning transferable visual models from natural language supervision," in Proc. ICML, PMLR 139, 2021, pp. 8748-8763.</a:t>
            </a:r>
          </a:p>
          <a:p>
            <a:pPr algn="l">
              <a:spcAft>
                <a:spcPts val="500"/>
              </a:spcAft>
            </a:pPr>
            <a:r>
              <a:rPr sz="1100" b="0">
                <a:solidFill>
                  <a:srgbClr val="1B1B1B"/>
                </a:solidFill>
                <a:latin typeface="Trebuchet MS"/>
              </a:rPr>
              <a:t>[10] J. Devlin, M.-W. Chang, K. Lee, and K. Toutanova, "BERT: Pre-training of deep bidirectional transformers for language understanding," in Proc. NAACL-HLT, 2019, pp. 4171-4186.</a:t>
            </a:r>
          </a:p>
          <a:p>
            <a:pPr algn="l">
              <a:spcAft>
                <a:spcPts val="500"/>
              </a:spcAft>
            </a:pPr>
            <a:r>
              <a:rPr sz="1100" b="0">
                <a:solidFill>
                  <a:srgbClr val="1B1B1B"/>
                </a:solidFill>
                <a:latin typeface="Trebuchet MS"/>
              </a:rPr>
              <a:t>[11] A. Conneau et al., "Unsupervised cross-lingual representation learning at scale," in Proc. ACL, 2020, pp. 8440-8451.</a:t>
            </a:r>
          </a:p>
          <a:p>
            <a:pPr algn="l">
              <a:spcAft>
                <a:spcPts val="500"/>
              </a:spcAft>
            </a:pPr>
            <a:r>
              <a:rPr sz="1100" b="0">
                <a:solidFill>
                  <a:srgbClr val="1B1B1B"/>
                </a:solidFill>
                <a:latin typeface="Trebuchet MS"/>
              </a:rPr>
              <a:t>[12] C. W. J. Granger, "Investigating causal relations by econometric models and cross-spectral methods," Econometrica, vol. 37, no. 3, pp. 424-438, 1969.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71485" y="3352800"/>
            <a:ext cx="2506584" cy="707886"/>
          </a:xfrm>
          <a:prstGeom prst="rect">
            <a:avLst/>
          </a:prstGeom>
        </p:spPr>
        <p:txBody>
          <a:bodyPr wrap="none">
            <a:spAutoFit/>
          </a:bodyPr>
          <a:lstStyle/>
          <a:p>
            <a:pPr algn="r"/>
            <a:r>
              <a:rPr lang="en-US" sz="4000" dirty="0">
                <a:solidFill>
                  <a:srgbClr val="FF0000"/>
                </a:solidFill>
                <a:latin typeface="Trebuchet MS" pitchFamily="34" charset="0"/>
              </a:rPr>
              <a:t>Thank You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a:extLst>
              <a:ext uri="{FF2B5EF4-FFF2-40B4-BE49-F238E27FC236}">
                <a16:creationId xmlns:a16="http://schemas.microsoft.com/office/drawing/2014/main" id="{E8AE750B-D869-952A-66FD-67A61F4ACA7A}"/>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a:extLst>
              <a:ext uri="{FF2B5EF4-FFF2-40B4-BE49-F238E27FC236}">
                <a16:creationId xmlns:a16="http://schemas.microsoft.com/office/drawing/2014/main" id="{BF8CE69B-69B8-0295-A31E-C148A00B4E16}"/>
              </a:ext>
            </a:extLst>
          </p:cNvPr>
          <p:cNvSpPr txBox="1">
            <a:spLocks noChangeArrowheads="1"/>
          </p:cNvSpPr>
          <p:nvPr/>
        </p:nvSpPr>
        <p:spPr bwMode="auto">
          <a:xfrm>
            <a:off x="2895600" y="990600"/>
            <a:ext cx="78486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Architecture: what changed since the diagram (2 of 2)</a:t>
            </a:r>
          </a:p>
        </p:txBody>
      </p:sp>
      <p:graphicFrame>
        <p:nvGraphicFramePr>
          <p:cNvPr id="15" name="architecture changes"/>
          <p:cNvGraphicFramePr>
            <a:graphicFrameLocks noGrp="1"/>
          </p:cNvGraphicFramePr>
          <p:nvPr/>
        </p:nvGraphicFramePr>
        <p:xfrm>
          <a:off x="640080" y="1828800"/>
          <a:ext cx="10881360" cy="4279392"/>
        </p:xfrm>
        <a:graphic>
          <a:graphicData uri="http://schemas.openxmlformats.org/drawingml/2006/table">
            <a:tbl>
              <a:tblPr firstRow="1" bandRow="0">
                <a:tableStyleId>{2D5ABB26-0587-4C30-8999-92F81FD0307C}</a:tableStyleId>
              </a:tblPr>
              <a:tblGrid>
                <a:gridCol w="2011680"/>
                <a:gridCol w="3566160"/>
                <a:gridCol w="5303520"/>
              </a:tblGrid>
              <a:tr h="713232">
                <a:tc>
                  <a:txBody>
                    <a:bodyPr wrap="square"/>
                    <a:lstStyle/>
                    <a:p>
                      <a:r>
                        <a:rPr sz="1200" b="1">
                          <a:solidFill>
                            <a:srgbClr val="FFFFFF"/>
                          </a:solidFill>
                          <a:latin typeface="Trebuchet MS"/>
                        </a:rPr>
                        <a:t>Module</a:t>
                      </a:r>
                    </a:p>
                  </a:txBody>
                  <a:tcPr marL="73152" marR="73152" marT="36576" marB="36576" anchor="ctr">
                    <a:solidFill>
                      <a:srgbClr val="0033CC"/>
                    </a:solidFill>
                  </a:tcPr>
                </a:tc>
                <a:tc>
                  <a:txBody>
                    <a:bodyPr wrap="square"/>
                    <a:lstStyle/>
                    <a:p>
                      <a:r>
                        <a:rPr sz="1200" b="1">
                          <a:solidFill>
                            <a:srgbClr val="FFFFFF"/>
                          </a:solidFill>
                          <a:latin typeface="Trebuchet MS"/>
                        </a:rPr>
                        <a:t>Diagram says</a:t>
                      </a:r>
                    </a:p>
                  </a:txBody>
                  <a:tcPr marL="73152" marR="73152" marT="36576" marB="36576" anchor="ctr">
                    <a:solidFill>
                      <a:srgbClr val="0033CC"/>
                    </a:solidFill>
                  </a:tcPr>
                </a:tc>
                <a:tc>
                  <a:txBody>
                    <a:bodyPr wrap="square"/>
                    <a:lstStyle/>
                    <a:p>
                      <a:r>
                        <a:rPr sz="1200" b="1">
                          <a:solidFill>
                            <a:srgbClr val="FFFFFF"/>
                          </a:solidFill>
                          <a:latin typeface="Trebuchet MS"/>
                        </a:rPr>
                        <a:t>Now (27 Oct 2026)</a:t>
                      </a:r>
                    </a:p>
                  </a:txBody>
                  <a:tcPr marL="73152" marR="73152" marT="36576" marB="36576" anchor="ctr">
                    <a:solidFill>
                      <a:srgbClr val="0033CC"/>
                    </a:solidFill>
                  </a:tcPr>
                </a:tc>
              </a:tr>
              <a:tr h="713232">
                <a:tc>
                  <a:txBody>
                    <a:bodyPr wrap="square"/>
                    <a:lstStyle/>
                    <a:p>
                      <a:r>
                        <a:rPr sz="1200" b="1">
                          <a:solidFill>
                            <a:srgbClr val="1B1B1B"/>
                          </a:solidFill>
                          <a:latin typeface="Trebuchet MS"/>
                        </a:rPr>
                        <a:t>1 Data collection</a:t>
                      </a:r>
                    </a:p>
                  </a:txBody>
                  <a:tcPr marL="73152" marR="73152" marT="36576" marB="36576" anchor="ctr">
                    <a:solidFill>
                      <a:srgbClr val="E8EEFB"/>
                    </a:solidFill>
                  </a:tcPr>
                </a:tc>
                <a:tc>
                  <a:txBody>
                    <a:bodyPr wrap="square"/>
                    <a:lstStyle/>
                    <a:p>
                      <a:r>
                        <a:rPr sz="1200" b="0">
                          <a:solidFill>
                            <a:srgbClr val="1B1B1B"/>
                          </a:solidFill>
                          <a:latin typeface="Trebuchet MS"/>
                        </a:rPr>
                        <a:t>YouTube, Instagram, Reddit; historical partnerships</a:t>
                      </a:r>
                    </a:p>
                  </a:txBody>
                  <a:tcPr marL="73152" marR="73152" marT="36576" marB="36576" anchor="ctr">
                    <a:solidFill>
                      <a:srgbClr val="E8EEFB"/>
                    </a:solidFill>
                  </a:tcPr>
                </a:tc>
                <a:tc>
                  <a:txBody>
                    <a:bodyPr wrap="square"/>
                    <a:lstStyle/>
                    <a:p>
                      <a:r>
                        <a:rPr sz="1200" b="0">
                          <a:solidFill>
                            <a:srgbClr val="1B1B1B"/>
                          </a:solidFill>
                          <a:latin typeface="Trebuchet MS"/>
                        </a:rPr>
                        <a:t>24 months of YouTube (59,300 videos), growth readings every 2 h, daily Instagram with owner checks</a:t>
                      </a:r>
                    </a:p>
                  </a:txBody>
                  <a:tcPr marL="73152" marR="73152" marT="36576" marB="36576" anchor="ctr">
                    <a:solidFill>
                      <a:srgbClr val="E8EEFB"/>
                    </a:solidFill>
                  </a:tcPr>
                </a:tc>
              </a:tr>
              <a:tr h="713232">
                <a:tc>
                  <a:txBody>
                    <a:bodyPr wrap="square"/>
                    <a:lstStyle/>
                    <a:p>
                      <a:r>
                        <a:rPr sz="1200" b="1">
                          <a:solidFill>
                            <a:srgbClr val="1B1B1B"/>
                          </a:solidFill>
                          <a:latin typeface="Trebuchet MS"/>
                        </a:rPr>
                        <a:t>2 Feature staging</a:t>
                      </a:r>
                    </a:p>
                  </a:txBody>
                  <a:tcPr marL="73152" marR="73152" marT="36576" marB="36576" anchor="ctr">
                    <a:solidFill>
                      <a:srgbClr val="FFFFFF"/>
                    </a:solidFill>
                  </a:tcPr>
                </a:tc>
                <a:tc>
                  <a:txBody>
                    <a:bodyPr wrap="square"/>
                    <a:lstStyle/>
                    <a:p>
                      <a:r>
                        <a:rPr sz="1200" b="0">
                          <a:solidFill>
                            <a:srgbClr val="1B1B1B"/>
                          </a:solidFill>
                          <a:latin typeface="Trebuchet MS"/>
                        </a:rPr>
                        <a:t>raw records to feature vectors, is_stub flag</a:t>
                      </a:r>
                    </a:p>
                  </a:txBody>
                  <a:tcPr marL="73152" marR="73152" marT="36576" marB="36576" anchor="ctr">
                    <a:solidFill>
                      <a:srgbClr val="FFFFFF"/>
                    </a:solidFill>
                  </a:tcPr>
                </a:tc>
                <a:tc>
                  <a:txBody>
                    <a:bodyPr wrap="square"/>
                    <a:lstStyle/>
                    <a:p>
                      <a:r>
                        <a:rPr sz="1200" b="0">
                          <a:solidFill>
                            <a:srgbClr val="1B1B1B"/>
                          </a:solidFill>
                          <a:latin typeface="Trebuchet MS"/>
                        </a:rPr>
                        <a:t>CLIP/BERT features real for 150 of 150; sponsorship events with evidence tiers and a score table</a:t>
                      </a:r>
                    </a:p>
                  </a:txBody>
                  <a:tcPr marL="73152" marR="73152" marT="36576" marB="36576" anchor="ctr">
                    <a:solidFill>
                      <a:srgbClr val="FFFFFF"/>
                    </a:solidFill>
                  </a:tcPr>
                </a:tc>
              </a:tr>
              <a:tr h="713232">
                <a:tc>
                  <a:txBody>
                    <a:bodyPr wrap="square"/>
                    <a:lstStyle/>
                    <a:p>
                      <a:r>
                        <a:rPr sz="1200" b="1">
                          <a:solidFill>
                            <a:srgbClr val="1B1B1B"/>
                          </a:solidFill>
                          <a:latin typeface="Trebuchet MS"/>
                        </a:rPr>
                        <a:t>3 GNN / dual framework</a:t>
                      </a:r>
                    </a:p>
                  </a:txBody>
                  <a:tcPr marL="73152" marR="73152" marT="36576" marB="36576" anchor="ctr">
                    <a:solidFill>
                      <a:srgbClr val="E8EEFB"/>
                    </a:solidFill>
                  </a:tcPr>
                </a:tc>
                <a:tc>
                  <a:txBody>
                    <a:bodyPr wrap="square"/>
                    <a:lstStyle/>
                    <a:p>
                      <a:r>
                        <a:rPr sz="1200" b="0">
                          <a:solidFill>
                            <a:srgbClr val="1B1B1B"/>
                          </a:solidFill>
                          <a:latin typeface="Trebuchet MS"/>
                        </a:rPr>
                        <a:t>340 collaboration + 1,414 co-occurrence edges; sentiment 0.5</a:t>
                      </a:r>
                    </a:p>
                  </a:txBody>
                  <a:tcPr marL="73152" marR="73152" marT="36576" marB="36576" anchor="ctr">
                    <a:solidFill>
                      <a:srgbClr val="E8EEFB"/>
                    </a:solidFill>
                  </a:tcPr>
                </a:tc>
                <a:tc>
                  <a:txBody>
                    <a:bodyPr wrap="square"/>
                    <a:lstStyle/>
                    <a:p>
                      <a:r>
                        <a:rPr sz="1200" b="0">
                          <a:solidFill>
                            <a:srgbClr val="1B1B1B"/>
                          </a:solidFill>
                          <a:latin typeface="Trebuchet MS"/>
                        </a:rPr>
                        <a:t>adds shared-brand (1,226) and @mention (154) links: 95 of 150 linked; sentiment real; lag test built</a:t>
                      </a:r>
                    </a:p>
                  </a:txBody>
                  <a:tcPr marL="73152" marR="73152" marT="36576" marB="36576" anchor="ctr">
                    <a:solidFill>
                      <a:srgbClr val="E8EEFB"/>
                    </a:solidFill>
                  </a:tcPr>
                </a:tc>
              </a:tr>
              <a:tr h="713232">
                <a:tc>
                  <a:txBody>
                    <a:bodyPr wrap="square"/>
                    <a:lstStyle/>
                    <a:p>
                      <a:r>
                        <a:rPr sz="1200" b="1">
                          <a:solidFill>
                            <a:srgbClr val="1B1B1B"/>
                          </a:solidFill>
                          <a:latin typeface="Trebuchet MS"/>
                        </a:rPr>
                        <a:t>4 Fusion</a:t>
                      </a:r>
                    </a:p>
                  </a:txBody>
                  <a:tcPr marL="73152" marR="73152" marT="36576" marB="36576" anchor="ctr">
                    <a:solidFill>
                      <a:srgbClr val="FFFFFF"/>
                    </a:solidFill>
                  </a:tcPr>
                </a:tc>
                <a:tc>
                  <a:txBody>
                    <a:bodyPr wrap="square"/>
                    <a:lstStyle/>
                    <a:p>
                      <a:r>
                        <a:rPr sz="1200" b="0">
                          <a:solidFill>
                            <a:srgbClr val="1B1B1B"/>
                          </a:solidFill>
                          <a:latin typeface="Trebuchet MS"/>
                        </a:rPr>
                        <a:t>0.4 spillover + 0.3 sentiment + 0.3 features</a:t>
                      </a:r>
                    </a:p>
                  </a:txBody>
                  <a:tcPr marL="73152" marR="73152" marT="36576" marB="36576" anchor="ctr">
                    <a:solidFill>
                      <a:srgbClr val="FFFFFF"/>
                    </a:solidFill>
                  </a:tcPr>
                </a:tc>
                <a:tc>
                  <a:txBody>
                    <a:bodyPr wrap="square"/>
                    <a:lstStyle/>
                    <a:p>
                      <a:r>
                        <a:rPr sz="1200" b="0">
                          <a:solidFill>
                            <a:srgbClr val="1B1B1B"/>
                          </a:solidFill>
                          <a:latin typeface="Trebuchet MS"/>
                        </a:rPr>
                        <a:t>same formula; all inputs real except spillover until GAIL is retrained</a:t>
                      </a:r>
                    </a:p>
                  </a:txBody>
                  <a:tcPr marL="73152" marR="73152" marT="36576" marB="36576" anchor="ctr">
                    <a:solidFill>
                      <a:srgbClr val="FFFFFF"/>
                    </a:solidFill>
                  </a:tcPr>
                </a:tc>
              </a:tr>
              <a:tr h="713232">
                <a:tc>
                  <a:txBody>
                    <a:bodyPr wrap="square"/>
                    <a:lstStyle/>
                    <a:p>
                      <a:r>
                        <a:rPr sz="1200" b="1">
                          <a:solidFill>
                            <a:srgbClr val="1B1B1B"/>
                          </a:solidFill>
                          <a:latin typeface="Trebuchet MS"/>
                        </a:rPr>
                        <a:t>5 API layer</a:t>
                      </a:r>
                    </a:p>
                  </a:txBody>
                  <a:tcPr marL="73152" marR="73152" marT="36576" marB="36576" anchor="ctr">
                    <a:solidFill>
                      <a:srgbClr val="E8EEFB"/>
                    </a:solidFill>
                  </a:tcPr>
                </a:tc>
                <a:tc>
                  <a:txBody>
                    <a:bodyPr wrap="square"/>
                    <a:lstStyle/>
                    <a:p>
                      <a:r>
                        <a:rPr sz="1200" b="0">
                          <a:solidFill>
                            <a:srgbClr val="1B1B1B"/>
                          </a:solidFill>
                          <a:latin typeface="Trebuchet MS"/>
                        </a:rPr>
                        <a:t>/recommendations, /alerts</a:t>
                      </a:r>
                    </a:p>
                  </a:txBody>
                  <a:tcPr marL="73152" marR="73152" marT="36576" marB="36576" anchor="ctr">
                    <a:solidFill>
                      <a:srgbClr val="E8EEFB"/>
                    </a:solidFill>
                  </a:tcPr>
                </a:tc>
                <a:tc>
                  <a:txBody>
                    <a:bodyPr wrap="square"/>
                    <a:lstStyle/>
                    <a:p>
                      <a:r>
                        <a:rPr sz="1200" b="0">
                          <a:solidFill>
                            <a:srgbClr val="1B1B1B"/>
                          </a:solidFill>
                          <a:latin typeface="Trebuchet MS"/>
                        </a:rPr>
                        <a:t>adds /platform-profiles and /feature-store/edges/mentions; creators with data rank first</a:t>
                      </a:r>
                    </a:p>
                  </a:txBody>
                  <a:tcPr marL="73152" marR="73152" marT="36576" marB="36576" anchor="ctr">
                    <a:solidFill>
                      <a:srgbClr val="E8EEFB"/>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2895600" y="990600"/>
            <a:ext cx="7848600" cy="461665"/>
          </a:xfrm>
          <a:prstGeom prst="rect">
            <a:avLst/>
          </a:prstGeom>
          <a:noFill/>
          <a:ln w="9525">
            <a:noFill/>
            <a:miter lim="800000"/>
            <a:headEnd/>
            <a:tailEnd/>
          </a:ln>
        </p:spPr>
        <p:txBody>
          <a:bodyPr wrap="square">
            <a:spAutoFit/>
          </a:bodyPr>
          <a:lstStyle/>
          <a:p>
            <a:pPr marL="342900" lvl="0" indent="-342900" algn="r">
              <a:spcBef>
                <a:spcPts val="0"/>
              </a:spcBef>
              <a:spcAft>
                <a:spcPts val="0"/>
              </a:spcAft>
              <a:buClr>
                <a:srgbClr val="FF0000"/>
              </a:buClr>
              <a:buSzPts val="2400"/>
            </a:pPr>
            <a:r>
              <a:rPr lang="en-US" sz="2400" dirty="0">
                <a:solidFill>
                  <a:srgbClr val="FF0000"/>
                </a:solidFill>
                <a:latin typeface="Trebuchet MS"/>
                <a:ea typeface="Trebuchet MS"/>
                <a:cs typeface="Trebuchet MS"/>
                <a:sym typeface="Trebuchet MS"/>
              </a:rPr>
              <a:t>Implementation: Module 3, graph and GAIL</a:t>
            </a:r>
            <a:endParaRPr lang="en-US" dirty="0">
              <a:solidFill>
                <a:schemeClr val="dk1"/>
              </a:solidFill>
              <a:latin typeface="Arial"/>
              <a:ea typeface="Arial"/>
              <a:cs typeface="Arial"/>
              <a:sym typeface="Arial"/>
            </a:endParaRPr>
          </a:p>
        </p:txBody>
      </p:sp>
      <p:sp>
        <p:nvSpPr>
          <p:cNvPr id="15" name="module 3 text"/>
          <p:cNvSpPr txBox="1"/>
          <p:nvPr/>
        </p:nvSpPr>
        <p:spPr>
          <a:xfrm>
            <a:off x="640080" y="1828800"/>
            <a:ext cx="5760720" cy="4480560"/>
          </a:xfrm>
          <a:prstGeom prst="rect">
            <a:avLst/>
          </a:prstGeom>
          <a:noFill/>
        </p:spPr>
        <p:txBody>
          <a:bodyPr wrap="square" lIns="0" rIns="0" tIns="0" bIns="0" anchor="t">
            <a:spAutoFit/>
          </a:bodyPr>
          <a:lstStyle/>
          <a:p>
            <a:pPr algn="l" marL="274320" indent="-274320">
              <a:spcAft>
                <a:spcPts val="900"/>
              </a:spcAft>
              <a:buFont typeface="Wingdings" pitchFamily="2" charset="2"/>
              <a:buChar char="§"/>
            </a:pPr>
            <a:r>
              <a:rPr sz="1400" b="1">
                <a:solidFill>
                  <a:srgbClr val="0033CC"/>
                </a:solidFill>
                <a:latin typeface="Trebuchet MS"/>
              </a:rPr>
              <a:t>Technology: </a:t>
            </a:r>
            <a:r>
              <a:rPr sz="1400" b="0">
                <a:solidFill>
                  <a:srgbClr val="0033CC"/>
                </a:solidFill>
                <a:latin typeface="Trebuchet MS"/>
              </a:rPr>
              <a:t>PyTorch Geometric: a graph-attention (GAT) backbone, an exposure module, a propensity model and a spillover head (Eesha's GAIL).</a:t>
            </a:r>
          </a:p>
          <a:p>
            <a:pPr algn="l" marL="274320" indent="-274320">
              <a:spcAft>
                <a:spcPts val="900"/>
              </a:spcAft>
              <a:buFont typeface="Wingdings" pitchFamily="2" charset="2"/>
              <a:buChar char="§"/>
            </a:pPr>
            <a:r>
              <a:rPr sz="1400" b="1">
                <a:solidFill>
                  <a:srgbClr val="0033CC"/>
                </a:solidFill>
                <a:latin typeface="Trebuchet MS"/>
              </a:rPr>
              <a:t>Graph: </a:t>
            </a:r>
            <a:r>
              <a:rPr sz="1400" b="0">
                <a:solidFill>
                  <a:srgbClr val="0033CC"/>
                </a:solidFill>
                <a:latin typeface="Trebuchet MS"/>
              </a:rPr>
              <a:t>creators are nodes; links are collaboration, Reddit co-mention, shared brand (1,226) and @mention (154); 95 of 150 creators linked.</a:t>
            </a:r>
          </a:p>
          <a:p>
            <a:pPr algn="l" marL="274320" indent="-274320">
              <a:spcAft>
                <a:spcPts val="900"/>
              </a:spcAft>
              <a:buFont typeface="Wingdings" pitchFamily="2" charset="2"/>
              <a:buChar char="§"/>
            </a:pPr>
            <a:r>
              <a:rPr sz="1400" b="1">
                <a:solidFill>
                  <a:srgbClr val="0033CC"/>
                </a:solidFill>
                <a:latin typeface="Trebuchet MS"/>
              </a:rPr>
              <a:t>Targets: </a:t>
            </a:r>
            <a:r>
              <a:rPr sz="1400" b="0">
                <a:solidFill>
                  <a:srgbClr val="0033CC"/>
                </a:solidFill>
                <a:latin typeface="Trebuchet MS"/>
              </a:rPr>
              <a:t>a neighbour's engagement lift around each sponsored post, lift = (after - before) / (before + 1), median-based, clipped to +/-5, clustered by 30-day windows into 159 independent examples.</a:t>
            </a:r>
          </a:p>
          <a:p>
            <a:pPr algn="l" marL="274320" indent="-274320">
              <a:spcAft>
                <a:spcPts val="900"/>
              </a:spcAft>
              <a:buFont typeface="Wingdings" pitchFamily="2" charset="2"/>
              <a:buChar char="§"/>
            </a:pPr>
            <a:r>
              <a:rPr sz="1400" b="1">
                <a:solidFill>
                  <a:srgbClr val="0033CC"/>
                </a:solidFill>
                <a:latin typeface="Trebuchet MS"/>
              </a:rPr>
              <a:t>Honesty tests: </a:t>
            </a:r>
            <a:r>
              <a:rPr sz="1400" b="0">
                <a:solidFill>
                  <a:srgbClr val="0033CC"/>
                </a:solidFill>
                <a:latin typeface="Trebuchet MS"/>
              </a:rPr>
              <a:t>within-neighbour placebo test, dose-response, direct effect, simulated validation.</a:t>
            </a:r>
          </a:p>
        </p:txBody>
      </p:sp>
      <p:sp>
        <p:nvSpPr>
          <p:cNvPr id="16" name="code box"/>
          <p:cNvSpPr/>
          <p:nvPr/>
        </p:nvSpPr>
        <p:spPr>
          <a:xfrm>
            <a:off x="6583680" y="1828800"/>
            <a:ext cx="5029200" cy="4160520"/>
          </a:xfrm>
          <a:prstGeom prst="roundRect">
            <a:avLst>
              <a:gd name="adj" fmla="val 3000"/>
            </a:avLst>
          </a:prstGeom>
          <a:solidFill>
            <a:srgbClr val="F4F6FA"/>
          </a:solidFill>
          <a:ln w="15875">
            <a:solidFill>
              <a:srgbClr val="B8C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seudocode"/>
          <p:cNvSpPr txBox="1"/>
          <p:nvPr/>
        </p:nvSpPr>
        <p:spPr>
          <a:xfrm>
            <a:off x="6720840" y="1938528"/>
            <a:ext cx="4754880" cy="3977639"/>
          </a:xfrm>
          <a:prstGeom prst="rect">
            <a:avLst/>
          </a:prstGeom>
          <a:noFill/>
        </p:spPr>
        <p:txBody>
          <a:bodyPr wrap="square" lIns="0" rIns="0" tIns="0" bIns="0" anchor="t">
            <a:spAutoFit/>
          </a:bodyPr>
          <a:lstStyle/>
          <a:p>
            <a:pPr algn="l">
              <a:spcAft>
                <a:spcPts val="0"/>
              </a:spcAft>
            </a:pPr>
            <a:r>
              <a:rPr sz="1300" b="0">
                <a:solidFill>
                  <a:srgbClr val="1B1B1B"/>
                </a:solidFill>
                <a:latin typeface="Consolas"/>
              </a:rPr>
              <a:t>emb  = GAT(features, edges)</a:t>
            </a:r>
          </a:p>
          <a:p>
            <a:pPr algn="l">
              <a:spcAft>
                <a:spcPts val="0"/>
              </a:spcAft>
            </a:pPr>
            <a:r>
              <a:rPr sz="1300" b="0">
                <a:solidFill>
                  <a:srgbClr val="1B1B1B"/>
                </a:solidFill>
                <a:latin typeface="Consolas"/>
              </a:rPr>
              <a:t>w_ij = softmax(sim(emb_i, emb_j))</a:t>
            </a:r>
          </a:p>
          <a:p>
            <a:pPr algn="l">
              <a:spcAft>
                <a:spcPts val="0"/>
              </a:spcAft>
            </a:pPr>
            <a:r>
              <a:rPr sz="1300" b="0">
                <a:solidFill>
                  <a:srgbClr val="1B1B1B"/>
                </a:solidFill>
                <a:latin typeface="Consolas"/>
              </a:rPr>
              <a:t>exposure_j = sum_i treated_i * w_ij</a:t>
            </a:r>
          </a:p>
          <a:p>
            <a:pPr algn="l">
              <a:spcAft>
                <a:spcPts val="0"/>
              </a:spcAft>
            </a:pPr>
            <a:r>
              <a:rPr sz="1300" b="0">
                <a:solidFill>
                  <a:srgbClr val="1B1B1B"/>
                </a:solidFill>
                <a:latin typeface="Consolas"/>
              </a:rPr>
              <a:t/>
            </a:r>
          </a:p>
          <a:p>
            <a:pPr algn="l">
              <a:spcAft>
                <a:spcPts val="0"/>
              </a:spcAft>
            </a:pPr>
            <a:r>
              <a:rPr sz="1300" b="0">
                <a:solidFill>
                  <a:srgbClr val="1B1B1B"/>
                </a:solidFill>
                <a:latin typeface="Consolas"/>
              </a:rPr>
              <a:t>e_j  = propensity(features_j)</a:t>
            </a:r>
          </a:p>
          <a:p>
            <a:pPr algn="l">
              <a:spcAft>
                <a:spcPts val="0"/>
              </a:spcAft>
            </a:pPr>
            <a:r>
              <a:rPr sz="1300" b="0">
                <a:solidFill>
                  <a:srgbClr val="1B1B1B"/>
                </a:solidFill>
                <a:latin typeface="Consolas"/>
              </a:rPr>
              <a:t>y_j  = head(emb_j, exposure_j)</a:t>
            </a:r>
          </a:p>
          <a:p>
            <a:pPr algn="l">
              <a:spcAft>
                <a:spcPts val="0"/>
              </a:spcAft>
            </a:pPr>
            <a:r>
              <a:rPr sz="1300" b="0">
                <a:solidFill>
                  <a:srgbClr val="1B1B1B"/>
                </a:solidFill>
                <a:latin typeface="Consolas"/>
              </a:rPr>
              <a:t/>
            </a:r>
          </a:p>
          <a:p>
            <a:pPr algn="l">
              <a:spcAft>
                <a:spcPts val="0"/>
              </a:spcAft>
            </a:pPr>
            <a:r>
              <a:rPr sz="1300" b="0">
                <a:solidFill>
                  <a:srgbClr val="1B1B1B"/>
                </a:solidFill>
                <a:latin typeface="Consolas"/>
              </a:rPr>
              <a:t>loss = mse(y_hat, lift)</a:t>
            </a:r>
          </a:p>
          <a:p>
            <a:pPr algn="l">
              <a:spcAft>
                <a:spcPts val="0"/>
              </a:spcAft>
            </a:pPr>
            <a:r>
              <a:rPr sz="1300" b="0">
                <a:solidFill>
                  <a:srgbClr val="1B1B1B"/>
                </a:solidFill>
                <a:latin typeface="Consolas"/>
              </a:rPr>
              <a:t>     + lambda * propensity_regulariser</a:t>
            </a:r>
          </a:p>
          <a:p>
            <a:pPr algn="l">
              <a:spcAft>
                <a:spcPts val="0"/>
              </a:spcAft>
            </a:pPr>
            <a:r>
              <a:rPr sz="1300" b="0">
                <a:solidFill>
                  <a:srgbClr val="1B1B1B"/>
                </a:solidFill>
                <a:latin typeface="Consolas"/>
              </a:rPr>
              <a:t/>
            </a:r>
          </a:p>
          <a:p>
            <a:pPr algn="l">
              <a:spcAft>
                <a:spcPts val="0"/>
              </a:spcAft>
            </a:pPr>
            <a:r>
              <a:rPr sz="1300" b="0">
                <a:solidFill>
                  <a:srgbClr val="1B1B1B"/>
                </a:solidFill>
                <a:latin typeface="Consolas"/>
              </a:rPr>
              <a:t>evaluate on held-out creators only;</a:t>
            </a:r>
          </a:p>
          <a:p>
            <a:pPr algn="l">
              <a:spcAft>
                <a:spcPts val="0"/>
              </a:spcAft>
            </a:pPr>
            <a:r>
              <a:rPr sz="1300" b="0">
                <a:solidFill>
                  <a:srgbClr val="1B1B1B"/>
                </a:solidFill>
                <a:latin typeface="Consolas"/>
              </a:rPr>
              <a:t>never quote the in-sample effect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2895600" y="990600"/>
            <a:ext cx="7848600" cy="461665"/>
          </a:xfrm>
          <a:prstGeom prst="rect">
            <a:avLst/>
          </a:prstGeom>
          <a:noFill/>
          <a:ln w="9525">
            <a:noFill/>
            <a:miter lim="800000"/>
            <a:headEnd/>
            <a:tailEnd/>
          </a:ln>
        </p:spPr>
        <p:txBody>
          <a:bodyPr wrap="square">
            <a:spAutoFit/>
          </a:bodyPr>
          <a:lstStyle/>
          <a:p>
            <a:pPr marL="342900" lvl="0" indent="-342900" algn="r">
              <a:spcBef>
                <a:spcPts val="0"/>
              </a:spcBef>
              <a:spcAft>
                <a:spcPts val="0"/>
              </a:spcAft>
              <a:buClr>
                <a:srgbClr val="FF0000"/>
              </a:buClr>
              <a:buSzPts val="2400"/>
            </a:pPr>
            <a:r>
              <a:rPr lang="en-US" sz="2400" dirty="0">
                <a:solidFill>
                  <a:srgbClr val="FF0000"/>
                </a:solidFill>
                <a:latin typeface="Trebuchet MS"/>
                <a:ea typeface="Trebuchet MS"/>
                <a:cs typeface="Trebuchet MS"/>
                <a:sym typeface="Trebuchet MS"/>
              </a:rPr>
              <a:t>Implementation: temporal branch and features</a:t>
            </a:r>
            <a:endParaRPr lang="en-US" dirty="0">
              <a:solidFill>
                <a:schemeClr val="dk1"/>
              </a:solidFill>
              <a:latin typeface="Arial"/>
              <a:ea typeface="Arial"/>
              <a:cs typeface="Arial"/>
              <a:sym typeface="Arial"/>
            </a:endParaRPr>
          </a:p>
        </p:txBody>
      </p:sp>
      <p:sp>
        <p:nvSpPr>
          <p:cNvPr id="15" name="module 3b text"/>
          <p:cNvSpPr txBox="1"/>
          <p:nvPr/>
        </p:nvSpPr>
        <p:spPr>
          <a:xfrm>
            <a:off x="640080" y="1828800"/>
            <a:ext cx="5760720" cy="4480560"/>
          </a:xfrm>
          <a:prstGeom prst="rect">
            <a:avLst/>
          </a:prstGeom>
          <a:noFill/>
        </p:spPr>
        <p:txBody>
          <a:bodyPr wrap="square" lIns="0" rIns="0" tIns="0" bIns="0" anchor="t">
            <a:spAutoFit/>
          </a:bodyPr>
          <a:lstStyle/>
          <a:p>
            <a:pPr algn="l" marL="274320" indent="-274320">
              <a:spcAft>
                <a:spcPts val="900"/>
              </a:spcAft>
              <a:buFont typeface="Wingdings" pitchFamily="2" charset="2"/>
              <a:buChar char="§"/>
            </a:pPr>
            <a:r>
              <a:rPr sz="1400" b="1">
                <a:solidFill>
                  <a:srgbClr val="0033CC"/>
                </a:solidFill>
                <a:latin typeface="Trebuchet MS"/>
              </a:rPr>
              <a:t>Sentiment: </a:t>
            </a:r>
            <a:r>
              <a:rPr sz="1400" b="0">
                <a:solidFill>
                  <a:srgbClr val="0033CC"/>
                </a:solidFill>
                <a:latin typeface="Trebuchet MS"/>
              </a:rPr>
              <a:t>RoBERTa (English) per comment; a multilingual XLM-R model for Hindi-script comments; safety = P(positive) + 0.5 P(neutral), pulled to 0.5 for creators with few comments.</a:t>
            </a:r>
          </a:p>
          <a:p>
            <a:pPr algn="l" marL="274320" indent="-274320">
              <a:spcAft>
                <a:spcPts val="900"/>
              </a:spcAft>
              <a:buFont typeface="Wingdings" pitchFamily="2" charset="2"/>
              <a:buChar char="§"/>
            </a:pPr>
            <a:r>
              <a:rPr sz="1400" b="1">
                <a:solidFill>
                  <a:srgbClr val="0033CC"/>
                </a:solidFill>
                <a:latin typeface="Trebuchet MS"/>
              </a:rPr>
              <a:t>Lag detection: </a:t>
            </a:r>
            <a:r>
              <a:rPr sz="1400" b="0">
                <a:solidFill>
                  <a:srgbClr val="0033CC"/>
                </a:solidFill>
                <a:latin typeface="Trebuchet MS"/>
              </a:rPr>
              <a:t>event study on growth readings every 2 h: activity after an Instagram post against the same creator's own rate, with a placebo from random times of the same hour of day.</a:t>
            </a:r>
          </a:p>
          <a:p>
            <a:pPr algn="l" marL="274320" indent="-274320">
              <a:spcAft>
                <a:spcPts val="900"/>
              </a:spcAft>
              <a:buFont typeface="Wingdings" pitchFamily="2" charset="2"/>
              <a:buChar char="§"/>
            </a:pPr>
            <a:r>
              <a:rPr sz="1400" b="1">
                <a:solidFill>
                  <a:srgbClr val="0033CC"/>
                </a:solidFill>
                <a:latin typeface="Trebuchet MS"/>
              </a:rPr>
              <a:t>Creator features: </a:t>
            </a:r>
            <a:r>
              <a:rPr sz="1400" b="0">
                <a:solidFill>
                  <a:srgbClr val="0033CC"/>
                </a:solidFill>
                <a:latin typeface="Trebuchet MS"/>
              </a:rPr>
              <a:t>CLIP on thumbnails and BERT on text, matched to the brand's product brief.</a:t>
            </a:r>
          </a:p>
          <a:p>
            <a:pPr algn="l" marL="274320" indent="-274320">
              <a:spcAft>
                <a:spcPts val="900"/>
              </a:spcAft>
              <a:buFont typeface="Wingdings" pitchFamily="2" charset="2"/>
              <a:buChar char="§"/>
            </a:pPr>
            <a:r>
              <a:rPr sz="1400" b="1">
                <a:solidFill>
                  <a:srgbClr val="0033CC"/>
                </a:solidFill>
                <a:latin typeface="Trebuchet MS"/>
              </a:rPr>
              <a:t>Positive control: </a:t>
            </a:r>
            <a:r>
              <a:rPr sz="1400" b="0">
                <a:solidFill>
                  <a:srgbClr val="0033CC"/>
                </a:solidFill>
                <a:latin typeface="Trebuchet MS"/>
              </a:rPr>
              <a:t>a YouTube upload must lift that channel's own views, or the method is broken.</a:t>
            </a:r>
          </a:p>
        </p:txBody>
      </p:sp>
      <p:sp>
        <p:nvSpPr>
          <p:cNvPr id="16" name="code box"/>
          <p:cNvSpPr/>
          <p:nvPr/>
        </p:nvSpPr>
        <p:spPr>
          <a:xfrm>
            <a:off x="6583680" y="1828800"/>
            <a:ext cx="5029200" cy="4160520"/>
          </a:xfrm>
          <a:prstGeom prst="roundRect">
            <a:avLst>
              <a:gd name="adj" fmla="val 3000"/>
            </a:avLst>
          </a:prstGeom>
          <a:solidFill>
            <a:srgbClr val="F4F6FA"/>
          </a:solidFill>
          <a:ln w="15875">
            <a:solidFill>
              <a:srgbClr val="B8C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seudocode"/>
          <p:cNvSpPr txBox="1"/>
          <p:nvPr/>
        </p:nvSpPr>
        <p:spPr>
          <a:xfrm>
            <a:off x="6720840" y="1938528"/>
            <a:ext cx="4754880" cy="3977639"/>
          </a:xfrm>
          <a:prstGeom prst="rect">
            <a:avLst/>
          </a:prstGeom>
          <a:noFill/>
        </p:spPr>
        <p:txBody>
          <a:bodyPr wrap="square" lIns="0" rIns="0" tIns="0" bIns="0" anchor="t">
            <a:spAutoFit/>
          </a:bodyPr>
          <a:lstStyle/>
          <a:p>
            <a:pPr algn="l">
              <a:spcAft>
                <a:spcPts val="0"/>
              </a:spcAft>
            </a:pPr>
            <a:r>
              <a:rPr sz="1300" b="0">
                <a:solidFill>
                  <a:srgbClr val="1B1B1B"/>
                </a:solidFill>
                <a:latin typeface="Consolas"/>
              </a:rPr>
              <a:t>for event in instagram_posts:</a:t>
            </a:r>
          </a:p>
          <a:p>
            <a:pPr algn="l">
              <a:spcAft>
                <a:spcPts val="0"/>
              </a:spcAft>
            </a:pPr>
            <a:r>
              <a:rPr sz="1300" b="0">
                <a:solidFill>
                  <a:srgbClr val="1B1B1B"/>
                </a:solidFill>
                <a:latin typeface="Consolas"/>
              </a:rPr>
              <a:t>  for window k in -48h .. +48h (12 h):</a:t>
            </a:r>
          </a:p>
          <a:p>
            <a:pPr algn="l">
              <a:spcAft>
                <a:spcPts val="0"/>
              </a:spcAft>
            </a:pPr>
            <a:r>
              <a:rPr sz="1300" b="0">
                <a:solidFill>
                  <a:srgbClr val="1B1B1B"/>
                </a:solidFill>
                <a:latin typeface="Consolas"/>
              </a:rPr>
              <a:t>    excess_k = rate_k / own_rate - 1</a:t>
            </a:r>
          </a:p>
          <a:p>
            <a:pPr algn="l">
              <a:spcAft>
                <a:spcPts val="0"/>
              </a:spcAft>
            </a:pPr>
            <a:r>
              <a:rPr sz="1300" b="0">
                <a:solidFill>
                  <a:srgbClr val="1B1B1B"/>
                </a:solidFill>
                <a:latin typeface="Consolas"/>
              </a:rPr>
              <a:t>  null = same statistic at random</a:t>
            </a:r>
          </a:p>
          <a:p>
            <a:pPr algn="l">
              <a:spcAft>
                <a:spcPts val="0"/>
              </a:spcAft>
            </a:pPr>
            <a:r>
              <a:rPr sz="1300" b="0">
                <a:solidFill>
                  <a:srgbClr val="1B1B1B"/>
                </a:solidFill>
                <a:latin typeface="Consolas"/>
              </a:rPr>
              <a:t>         times, same hour of day</a:t>
            </a:r>
          </a:p>
          <a:p>
            <a:pPr algn="l">
              <a:spcAft>
                <a:spcPts val="0"/>
              </a:spcAft>
            </a:pPr>
            <a:r>
              <a:rPr sz="1300" b="0">
                <a:solidFill>
                  <a:srgbClr val="1B1B1B"/>
                </a:solidFill>
                <a:latin typeface="Consolas"/>
              </a:rPr>
              <a:t>  p_k = share(null &gt;= excess_k)</a:t>
            </a:r>
          </a:p>
          <a:p>
            <a:pPr algn="l">
              <a:spcAft>
                <a:spcPts val="0"/>
              </a:spcAft>
            </a:pPr>
            <a:r>
              <a:rPr sz="1300" b="0">
                <a:solidFill>
                  <a:srgbClr val="1B1B1B"/>
                </a:solidFill>
                <a:latin typeface="Consolas"/>
              </a:rPr>
              <a:t/>
            </a:r>
          </a:p>
          <a:p>
            <a:pPr algn="l">
              <a:spcAft>
                <a:spcPts val="0"/>
              </a:spcAft>
            </a:pPr>
            <a:r>
              <a:rPr sz="1300" b="0">
                <a:solidFill>
                  <a:srgbClr val="1B1B1B"/>
                </a:solidFill>
                <a:latin typeface="Consolas"/>
              </a:rPr>
              <a:t>detected only if</a:t>
            </a:r>
          </a:p>
          <a:p>
            <a:pPr algn="l">
              <a:spcAft>
                <a:spcPts val="0"/>
              </a:spcAft>
            </a:pPr>
            <a:r>
              <a:rPr sz="1300" b="0">
                <a:solidFill>
                  <a:srgbClr val="1B1B1B"/>
                </a:solidFill>
                <a:latin typeface="Consolas"/>
              </a:rPr>
              <a:t>  min(p_after) &lt; 0.05 / 4</a:t>
            </a:r>
          </a:p>
          <a:p>
            <a:pPr algn="l">
              <a:spcAft>
                <a:spcPts val="0"/>
              </a:spcAft>
            </a:pPr>
            <a:r>
              <a:rPr sz="1300" b="0">
                <a:solidFill>
                  <a:srgbClr val="1B1B1B"/>
                </a:solidFill>
                <a:latin typeface="Consolas"/>
              </a:rPr>
              <a:t/>
            </a:r>
          </a:p>
          <a:p>
            <a:pPr algn="l">
              <a:spcAft>
                <a:spcPts val="0"/>
              </a:spcAft>
            </a:pPr>
            <a:r>
              <a:rPr sz="1300" b="0">
                <a:solidFill>
                  <a:srgbClr val="1B1B1B"/>
                </a:solidFill>
                <a:latin typeface="Consolas"/>
              </a:rPr>
              <a:t>control: upload -&gt; own views</a:t>
            </a:r>
          </a:p>
          <a:p>
            <a:pPr algn="l">
              <a:spcAft>
                <a:spcPts val="0"/>
              </a:spcAft>
            </a:pPr>
            <a:r>
              <a:rPr sz="1300" b="0">
                <a:solidFill>
                  <a:srgbClr val="1B1B1B"/>
                </a:solidFill>
                <a:latin typeface="Consolas"/>
              </a:rPr>
              <a:t>must be detected first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2895600" y="990600"/>
            <a:ext cx="7848600" cy="461665"/>
          </a:xfrm>
          <a:prstGeom prst="rect">
            <a:avLst/>
          </a:prstGeom>
          <a:noFill/>
          <a:ln w="9525">
            <a:noFill/>
            <a:miter lim="800000"/>
            <a:headEnd/>
            <a:tailEnd/>
          </a:ln>
        </p:spPr>
        <p:txBody>
          <a:bodyPr wrap="square">
            <a:spAutoFit/>
          </a:bodyPr>
          <a:lstStyle/>
          <a:p>
            <a:pPr marL="342900" lvl="0" indent="-342900" algn="r">
              <a:spcBef>
                <a:spcPts val="0"/>
              </a:spcBef>
              <a:spcAft>
                <a:spcPts val="0"/>
              </a:spcAft>
              <a:buClr>
                <a:srgbClr val="FF0000"/>
              </a:buClr>
              <a:buSzPts val="2400"/>
            </a:pPr>
            <a:r>
              <a:rPr lang="en-US" sz="2400" dirty="0">
                <a:solidFill>
                  <a:srgbClr val="FF0000"/>
                </a:solidFill>
                <a:latin typeface="Trebuchet MS"/>
                <a:ea typeface="Trebuchet MS"/>
                <a:cs typeface="Trebuchet MS"/>
                <a:sym typeface="Trebuchet MS"/>
              </a:rPr>
              <a:t>Implementation: Modules 4-5, fusion and app</a:t>
            </a:r>
            <a:endParaRPr lang="en-US" dirty="0">
              <a:solidFill>
                <a:schemeClr val="dk1"/>
              </a:solidFill>
              <a:latin typeface="Arial"/>
              <a:ea typeface="Arial"/>
              <a:cs typeface="Arial"/>
              <a:sym typeface="Arial"/>
            </a:endParaRPr>
          </a:p>
        </p:txBody>
      </p:sp>
      <p:sp>
        <p:nvSpPr>
          <p:cNvPr id="15" name="module 4-5 text"/>
          <p:cNvSpPr txBox="1"/>
          <p:nvPr/>
        </p:nvSpPr>
        <p:spPr>
          <a:xfrm>
            <a:off x="640080" y="1828800"/>
            <a:ext cx="5760720" cy="4480560"/>
          </a:xfrm>
          <a:prstGeom prst="rect">
            <a:avLst/>
          </a:prstGeom>
          <a:noFill/>
        </p:spPr>
        <p:txBody>
          <a:bodyPr wrap="square" lIns="0" rIns="0" tIns="0" bIns="0" anchor="t">
            <a:spAutoFit/>
          </a:bodyPr>
          <a:lstStyle/>
          <a:p>
            <a:pPr algn="l" marL="274320" indent="-274320">
              <a:spcAft>
                <a:spcPts val="900"/>
              </a:spcAft>
              <a:buFont typeface="Wingdings" pitchFamily="2" charset="2"/>
              <a:buChar char="§"/>
            </a:pPr>
            <a:r>
              <a:rPr sz="1400" b="1">
                <a:solidFill>
                  <a:srgbClr val="0033CC"/>
                </a:solidFill>
                <a:latin typeface="Trebuchet MS"/>
              </a:rPr>
              <a:t>Fusion: </a:t>
            </a:r>
            <a:r>
              <a:rPr sz="1400" b="0">
                <a:solidFill>
                  <a:srgbClr val="0033CC"/>
                </a:solidFill>
                <a:latin typeface="Trebuchet MS"/>
              </a:rPr>
              <a:t>final = 100 x (0.4 spillover + 0.3 sentiment + 0.3 features), minus 10 when sentiment is below 0.3; the confidence range combines each branch's uncertainty in quadrature.</a:t>
            </a:r>
          </a:p>
          <a:p>
            <a:pPr algn="l" marL="274320" indent="-274320">
              <a:spcAft>
                <a:spcPts val="900"/>
              </a:spcAft>
              <a:buFont typeface="Wingdings" pitchFamily="2" charset="2"/>
              <a:buChar char="§"/>
            </a:pPr>
            <a:r>
              <a:rPr sz="1400" b="1">
                <a:solidFill>
                  <a:srgbClr val="0033CC"/>
                </a:solidFill>
                <a:latin typeface="Trebuchet MS"/>
              </a:rPr>
              <a:t>Backend: </a:t>
            </a:r>
            <a:r>
              <a:rPr sz="1400" b="0">
                <a:solidFill>
                  <a:srgbClr val="0033CC"/>
                </a:solidFill>
                <a:latin typeface="Trebuchet MS"/>
              </a:rPr>
              <a:t>FastAPI + SQLModel on Supabase; /recommendations, /alerts, /feature-store, /platform-profiles.</a:t>
            </a:r>
          </a:p>
          <a:p>
            <a:pPr algn="l" marL="274320" indent="-274320">
              <a:spcAft>
                <a:spcPts val="900"/>
              </a:spcAft>
              <a:buFont typeface="Wingdings" pitchFamily="2" charset="2"/>
              <a:buChar char="§"/>
            </a:pPr>
            <a:r>
              <a:rPr sz="1400" b="1">
                <a:solidFill>
                  <a:srgbClr val="0033CC"/>
                </a:solidFill>
                <a:latin typeface="Trebuchet MS"/>
              </a:rPr>
              <a:t>Frontend: </a:t>
            </a:r>
            <a:r>
              <a:rPr sz="1400" b="0">
                <a:solidFill>
                  <a:srgbClr val="0033CC"/>
                </a:solidFill>
                <a:latin typeface="Trebuchet MS"/>
              </a:rPr>
              <a:t>Next.js 16 and TypeScript: brief form, ranked dashboard with basis badges, per-platform status, explainability graph, monitoring, analysis tab.</a:t>
            </a:r>
          </a:p>
          <a:p>
            <a:pPr algn="l" marL="274320" indent="-274320">
              <a:spcAft>
                <a:spcPts val="900"/>
              </a:spcAft>
              <a:buFont typeface="Wingdings" pitchFamily="2" charset="2"/>
              <a:buChar char="§"/>
            </a:pPr>
            <a:r>
              <a:rPr sz="1400" b="1">
                <a:solidFill>
                  <a:srgbClr val="0033CC"/>
                </a:solidFill>
                <a:latin typeface="Trebuchet MS"/>
              </a:rPr>
              <a:t>New: </a:t>
            </a:r>
            <a:r>
              <a:rPr sz="1400" b="0">
                <a:solidFill>
                  <a:srgbClr val="0033CC"/>
                </a:solidFill>
                <a:latin typeface="Trebuchet MS"/>
              </a:rPr>
              <a:t>YouTube vs Instagram status per creator; creators with no data rank below those with data.</a:t>
            </a:r>
          </a:p>
        </p:txBody>
      </p:sp>
      <p:sp>
        <p:nvSpPr>
          <p:cNvPr id="16" name="code box"/>
          <p:cNvSpPr/>
          <p:nvPr/>
        </p:nvSpPr>
        <p:spPr>
          <a:xfrm>
            <a:off x="6583680" y="1828800"/>
            <a:ext cx="5029200" cy="4160520"/>
          </a:xfrm>
          <a:prstGeom prst="roundRect">
            <a:avLst>
              <a:gd name="adj" fmla="val 3000"/>
            </a:avLst>
          </a:prstGeom>
          <a:solidFill>
            <a:srgbClr val="F4F6FA"/>
          </a:solidFill>
          <a:ln w="15875">
            <a:solidFill>
              <a:srgbClr val="B8C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seudocode"/>
          <p:cNvSpPr txBox="1"/>
          <p:nvPr/>
        </p:nvSpPr>
        <p:spPr>
          <a:xfrm>
            <a:off x="6720840" y="1938528"/>
            <a:ext cx="4754880" cy="3977639"/>
          </a:xfrm>
          <a:prstGeom prst="rect">
            <a:avLst/>
          </a:prstGeom>
          <a:noFill/>
        </p:spPr>
        <p:txBody>
          <a:bodyPr wrap="square" lIns="0" rIns="0" tIns="0" bIns="0" anchor="t">
            <a:spAutoFit/>
          </a:bodyPr>
          <a:lstStyle/>
          <a:p>
            <a:pPr algn="l">
              <a:spcAft>
                <a:spcPts val="0"/>
              </a:spcAft>
            </a:pPr>
            <a:r>
              <a:rPr sz="1300" b="0">
                <a:solidFill>
                  <a:srgbClr val="1B1B1B"/>
                </a:solidFill>
                <a:latin typeface="Consolas"/>
              </a:rPr>
              <a:t>final = 100 * (0.4*spillover</a:t>
            </a:r>
          </a:p>
          <a:p>
            <a:pPr algn="l">
              <a:spcAft>
                <a:spcPts val="0"/>
              </a:spcAft>
            </a:pPr>
            <a:r>
              <a:rPr sz="1300" b="0">
                <a:solidFill>
                  <a:srgbClr val="1B1B1B"/>
                </a:solidFill>
                <a:latin typeface="Consolas"/>
              </a:rPr>
              <a:t>               + 0.3*sentiment</a:t>
            </a:r>
          </a:p>
          <a:p>
            <a:pPr algn="l">
              <a:spcAft>
                <a:spcPts val="0"/>
              </a:spcAft>
            </a:pPr>
            <a:r>
              <a:rPr sz="1300" b="0">
                <a:solidFill>
                  <a:srgbClr val="1B1B1B"/>
                </a:solidFill>
                <a:latin typeface="Consolas"/>
              </a:rPr>
              <a:t>               + 0.3*features)</a:t>
            </a:r>
          </a:p>
          <a:p>
            <a:pPr algn="l">
              <a:spcAft>
                <a:spcPts val="0"/>
              </a:spcAft>
            </a:pPr>
            <a:r>
              <a:rPr sz="1300" b="0">
                <a:solidFill>
                  <a:srgbClr val="1B1B1B"/>
                </a:solidFill>
                <a:latin typeface="Consolas"/>
              </a:rPr>
              <a:t>if sentiment &lt; 0.3: final -= 10</a:t>
            </a:r>
          </a:p>
          <a:p>
            <a:pPr algn="l">
              <a:spcAft>
                <a:spcPts val="0"/>
              </a:spcAft>
            </a:pPr>
            <a:r>
              <a:rPr sz="1300" b="0">
                <a:solidFill>
                  <a:srgbClr val="1B1B1B"/>
                </a:solidFill>
                <a:latin typeface="Consolas"/>
              </a:rPr>
              <a:t/>
            </a:r>
          </a:p>
          <a:p>
            <a:pPr algn="l">
              <a:spcAft>
                <a:spcPts val="0"/>
              </a:spcAft>
            </a:pPr>
            <a:r>
              <a:rPr sz="1300" b="0">
                <a:solidFill>
                  <a:srgbClr val="1B1B1B"/>
                </a:solidFill>
                <a:latin typeface="Consolas"/>
              </a:rPr>
              <a:t>half_width = sqrt(sum(w_i * u_i)^2)</a:t>
            </a:r>
          </a:p>
          <a:p>
            <a:pPr algn="l">
              <a:spcAft>
                <a:spcPts val="0"/>
              </a:spcAft>
            </a:pPr>
            <a:r>
              <a:rPr sz="1300" b="0">
                <a:solidFill>
                  <a:srgbClr val="1B1B1B"/>
                </a:solidFill>
                <a:latin typeface="Consolas"/>
              </a:rPr>
              <a:t>range = final +/- half_width</a:t>
            </a:r>
          </a:p>
          <a:p>
            <a:pPr algn="l">
              <a:spcAft>
                <a:spcPts val="0"/>
              </a:spcAft>
            </a:pPr>
            <a:r>
              <a:rPr sz="1300" b="0">
                <a:solidFill>
                  <a:srgbClr val="1B1B1B"/>
                </a:solidFill>
                <a:latin typeface="Consolas"/>
              </a:rPr>
              <a:t/>
            </a:r>
          </a:p>
          <a:p>
            <a:pPr algn="l">
              <a:spcAft>
                <a:spcPts val="0"/>
              </a:spcAft>
            </a:pPr>
            <a:r>
              <a:rPr sz="1300" b="0">
                <a:solidFill>
                  <a:srgbClr val="1B1B1B"/>
                </a:solidFill>
                <a:latin typeface="Consolas"/>
              </a:rPr>
              <a:t>rank by (has_posts, final)</a:t>
            </a:r>
          </a:p>
          <a:p>
            <a:pPr algn="l">
              <a:spcAft>
                <a:spcPts val="0"/>
              </a:spcAft>
            </a:pPr>
            <a:r>
              <a:rPr sz="1300" b="0">
                <a:solidFill>
                  <a:srgbClr val="1B1B1B"/>
                </a:solidFill>
                <a:latin typeface="Consolas"/>
              </a:rPr>
              <a:t>show basis: trained | inferred |</a:t>
            </a:r>
          </a:p>
          <a:p>
            <a:pPr algn="l">
              <a:spcAft>
                <a:spcPts val="0"/>
              </a:spcAft>
            </a:pPr>
            <a:r>
              <a:rPr sz="1300" b="0">
                <a:solidFill>
                  <a:srgbClr val="1B1B1B"/>
                </a:solidFill>
                <a:latin typeface="Consolas"/>
              </a:rPr>
              <a:t>            isolated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a:spLocks noChangeArrowheads="1"/>
          </p:cNvSpPr>
          <p:nvPr/>
        </p:nvSpPr>
        <p:spPr bwMode="auto">
          <a:xfrm>
            <a:off x="3048000" y="1447800"/>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2895600" y="990600"/>
            <a:ext cx="7848600" cy="461665"/>
          </a:xfrm>
          <a:prstGeom prst="rect">
            <a:avLst/>
          </a:prstGeom>
          <a:noFill/>
          <a:ln w="9525">
            <a:noFill/>
            <a:miter lim="800000"/>
            <a:headEnd/>
            <a:tailEnd/>
          </a:ln>
        </p:spPr>
        <p:txBody>
          <a:bodyPr wrap="square">
            <a:spAutoFit/>
          </a:bodyPr>
          <a:lstStyle/>
          <a:p>
            <a:pPr marL="342900" lvl="0" indent="-342900" algn="r">
              <a:spcBef>
                <a:spcPts val="0"/>
              </a:spcBef>
              <a:spcAft>
                <a:spcPts val="0"/>
              </a:spcAft>
            </a:pPr>
            <a:r>
              <a:rPr lang="en-US" sz="2400" dirty="0">
                <a:solidFill>
                  <a:srgbClr val="FF0000"/>
                </a:solidFill>
                <a:latin typeface="Trebuchet MS"/>
                <a:ea typeface="Trebuchet MS"/>
                <a:cs typeface="Trebuchet MS"/>
                <a:sym typeface="Trebuchet MS"/>
              </a:rPr>
              <a:t>Test Plan and Strategy (2 of 2)</a:t>
            </a:r>
            <a:endParaRPr lang="en-US" sz="2400" dirty="0"/>
          </a:p>
        </p:txBody>
      </p:sp>
      <p:sp>
        <p:nvSpPr>
          <p:cNvPr id="15" name="test strategy"/>
          <p:cNvSpPr txBox="1"/>
          <p:nvPr/>
        </p:nvSpPr>
        <p:spPr>
          <a:xfrm>
            <a:off x="640080" y="1828800"/>
            <a:ext cx="5394960" cy="4480560"/>
          </a:xfrm>
          <a:prstGeom prst="rect">
            <a:avLst/>
          </a:prstGeom>
          <a:noFill/>
        </p:spPr>
        <p:txBody>
          <a:bodyPr wrap="square" lIns="0" rIns="0" tIns="0" bIns="0" anchor="t">
            <a:spAutoFit/>
          </a:bodyPr>
          <a:lstStyle/>
          <a:p>
            <a:pPr algn="l" marL="274320" indent="-274320">
              <a:spcAft>
                <a:spcPts val="600"/>
              </a:spcAft>
              <a:buFont typeface="Wingdings" pitchFamily="2" charset="2"/>
              <a:buChar char="§"/>
            </a:pPr>
            <a:r>
              <a:rPr sz="1300" b="1">
                <a:solidFill>
                  <a:srgbClr val="FF0000"/>
                </a:solidFill>
                <a:latin typeface="Trebuchet MS"/>
              </a:rPr>
              <a:t>Activities and timeline</a:t>
            </a:r>
          </a:p>
          <a:p>
            <a:pPr algn="l" marL="274320" indent="-274320">
              <a:spcAft>
                <a:spcPts val="600"/>
              </a:spcAft>
              <a:buFont typeface="Wingdings" pitchFamily="2" charset="2"/>
              <a:buChar char="§"/>
            </a:pPr>
            <a:r>
              <a:rPr sz="1300" b="0">
                <a:solidFill>
                  <a:srgbClr val="0033CC"/>
                </a:solidFill>
                <a:latin typeface="Trebuchet MS"/>
              </a:rPr>
              <a:t>Tests were written with each module in Oct 2026 and all suites run before every push.</a:t>
            </a:r>
          </a:p>
          <a:p>
            <a:pPr algn="l" marL="274320" indent="-274320">
              <a:spcAft>
                <a:spcPts val="600"/>
              </a:spcAft>
              <a:buFont typeface="Wingdings" pitchFamily="2" charset="2"/>
              <a:buChar char="§"/>
            </a:pPr>
            <a:r>
              <a:rPr sz="1300" b="0">
                <a:solidFill>
                  <a:srgbClr val="0033CC"/>
                </a:solidFill>
                <a:latin typeface="Trebuchet MS"/>
              </a:rPr>
              <a:t>Data fixes are tested by re-measuring (counts, duplicates, links) and every change keeps a backup table.</a:t>
            </a:r>
          </a:p>
          <a:p>
            <a:pPr algn="l" marL="274320" indent="-274320">
              <a:spcAft>
                <a:spcPts val="600"/>
              </a:spcAft>
              <a:buFont typeface="Wingdings" pitchFamily="2" charset="2"/>
              <a:buChar char="§"/>
            </a:pPr>
            <a:r>
              <a:rPr sz="1300" b="0">
                <a:solidFill>
                  <a:srgbClr val="0033CC"/>
                </a:solidFill>
                <a:latin typeface="Trebuchet MS"/>
              </a:rPr>
              <a:t>Simulated checks plant a known effect on the real data to test the methods themselves.</a:t>
            </a:r>
          </a:p>
          <a:p>
            <a:pPr algn="l" marL="274320" indent="-274320">
              <a:spcAft>
                <a:spcPts val="600"/>
              </a:spcAft>
              <a:buFont typeface="Wingdings" pitchFamily="2" charset="2"/>
              <a:buChar char="§"/>
            </a:pPr>
            <a:r>
              <a:rPr sz="1300" b="1">
                <a:solidFill>
                  <a:srgbClr val="FF0000"/>
                </a:solidFill>
                <a:latin typeface="Trebuchet MS"/>
              </a:rPr>
              <a:t>Benefits</a:t>
            </a:r>
          </a:p>
          <a:p>
            <a:pPr algn="l" marL="274320" indent="-274320">
              <a:spcAft>
                <a:spcPts val="600"/>
              </a:spcAft>
              <a:buFont typeface="Wingdings" pitchFamily="2" charset="2"/>
              <a:buChar char="§"/>
            </a:pPr>
            <a:r>
              <a:rPr sz="1300" b="0">
                <a:solidFill>
                  <a:srgbClr val="0033CC"/>
                </a:solidFill>
                <a:latin typeface="Trebuchet MS"/>
              </a:rPr>
              <a:t>Cheap to repeat, catches regressions, makes claims checkable.</a:t>
            </a:r>
          </a:p>
        </p:txBody>
      </p:sp>
      <p:sp>
        <p:nvSpPr>
          <p:cNvPr id="16" name="test gaps"/>
          <p:cNvSpPr txBox="1"/>
          <p:nvPr/>
        </p:nvSpPr>
        <p:spPr>
          <a:xfrm>
            <a:off x="6309360" y="1828800"/>
            <a:ext cx="5303520" cy="4480560"/>
          </a:xfrm>
          <a:prstGeom prst="rect">
            <a:avLst/>
          </a:prstGeom>
          <a:noFill/>
        </p:spPr>
        <p:txBody>
          <a:bodyPr wrap="square" lIns="0" rIns="0" tIns="0" bIns="0" anchor="t">
            <a:spAutoFit/>
          </a:bodyPr>
          <a:lstStyle/>
          <a:p>
            <a:pPr algn="l" marL="274320" indent="-274320">
              <a:spcAft>
                <a:spcPts val="600"/>
              </a:spcAft>
              <a:buFont typeface="Wingdings" pitchFamily="2" charset="2"/>
              <a:buChar char="§"/>
            </a:pPr>
            <a:r>
              <a:rPr sz="1300" b="1">
                <a:solidFill>
                  <a:srgbClr val="FF0000"/>
                </a:solidFill>
                <a:latin typeface="Trebuchet MS"/>
              </a:rPr>
              <a:t>Drawbacks and gaps</a:t>
            </a:r>
          </a:p>
          <a:p>
            <a:pPr algn="l" marL="274320" indent="-274320">
              <a:spcAft>
                <a:spcPts val="600"/>
              </a:spcAft>
              <a:buFont typeface="Wingdings" pitchFamily="2" charset="2"/>
              <a:buChar char="§"/>
            </a:pPr>
            <a:r>
              <a:rPr sz="1300" b="0">
                <a:solidFill>
                  <a:srgbClr val="0033CC"/>
                </a:solidFill>
                <a:latin typeface="Trebuchet MS"/>
              </a:rPr>
              <a:t>No load or performance test of the API yet.</a:t>
            </a:r>
          </a:p>
          <a:p>
            <a:pPr algn="l" marL="274320" indent="-274320">
              <a:spcAft>
                <a:spcPts val="600"/>
              </a:spcAft>
              <a:buFont typeface="Wingdings" pitchFamily="2" charset="2"/>
              <a:buChar char="§"/>
            </a:pPr>
            <a:r>
              <a:rPr sz="1300" b="0">
                <a:solidFill>
                  <a:srgbClr val="0033CC"/>
                </a:solidFill>
                <a:latin typeface="Trebuchet MS"/>
              </a:rPr>
              <a:t>No security test and no CI pipeline on GitHub (local gate script only).</a:t>
            </a:r>
          </a:p>
          <a:p>
            <a:pPr algn="l" marL="274320" indent="-274320">
              <a:spcAft>
                <a:spcPts val="600"/>
              </a:spcAft>
              <a:buFont typeface="Wingdings" pitchFamily="2" charset="2"/>
              <a:buChar char="§"/>
            </a:pPr>
            <a:r>
              <a:rPr sz="1300" b="0">
                <a:solidFill>
                  <a:srgbClr val="0033CC"/>
                </a:solidFill>
                <a:latin typeface="Trebuchet MS"/>
              </a:rPr>
              <a:t>Docker image never run (Docker is not installed on the laptop).</a:t>
            </a:r>
          </a:p>
          <a:p>
            <a:pPr algn="l" marL="274320" indent="-274320">
              <a:spcAft>
                <a:spcPts val="600"/>
              </a:spcAft>
              <a:buFont typeface="Wingdings" pitchFamily="2" charset="2"/>
              <a:buChar char="§"/>
            </a:pPr>
            <a:r>
              <a:rPr sz="1300" b="0">
                <a:solidFill>
                  <a:srgbClr val="0033CC"/>
                </a:solidFill>
                <a:latin typeface="Trebuchet MS"/>
              </a:rPr>
              <a:t>GAIL itself is tested only after the retrain; its simulated acceptance check failed 0 of 4 on the old model.</a:t>
            </a:r>
          </a:p>
          <a:p>
            <a:pPr algn="l" marL="274320" indent="-274320">
              <a:spcAft>
                <a:spcPts val="600"/>
              </a:spcAft>
              <a:buFont typeface="Wingdings" pitchFamily="2" charset="2"/>
              <a:buChar char="§"/>
            </a:pPr>
            <a:r>
              <a:rPr sz="1300" b="0">
                <a:solidFill>
                  <a:srgbClr val="0033CC"/>
                </a:solidFill>
                <a:latin typeface="Trebuchet MS"/>
              </a:rPr>
              <a:t>Human label checks cover only 4% of events.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900" lvl="0" indent="-342900" algn="r">
              <a:spcBef>
                <a:spcPts val="0"/>
              </a:spcBef>
              <a:spcAft>
                <a:spcPts val="0"/>
              </a:spcAft>
            </a:pPr>
            <a:r>
              <a:rPr lang="en-US" sz="2400" dirty="0">
                <a:solidFill>
                  <a:srgbClr val="FF0000"/>
                </a:solidFill>
                <a:latin typeface="Trebuchet MS"/>
                <a:ea typeface="Trebuchet MS"/>
                <a:cs typeface="Trebuchet MS"/>
                <a:sym typeface="Trebuchet MS"/>
              </a:rPr>
              <a:t>Results and Discussion (2 of 2): spillover, lag, baselines</a:t>
            </a:r>
            <a:endParaRPr lang="en-US" sz="2400" dirty="0"/>
          </a:p>
        </p:txBody>
      </p:sp>
      <p:graphicFrame>
        <p:nvGraphicFramePr>
          <p:cNvPr id="4" name="chart"/>
          <p:cNvGraphicFramePr>
            <a:graphicFrameLocks noGrp="1"/>
          </p:cNvGraphicFramePr>
          <p:nvPr/>
        </p:nvGraphicFramePr>
        <p:xfrm>
          <a:off x="548640" y="1737360"/>
          <a:ext cx="5394960" cy="3246120"/>
        </p:xfrm>
        <a:graphic>
          <a:graphicData uri="http://schemas.openxmlformats.org/drawingml/2006/chart">
            <c:chart xmlns:c="http://schemas.openxmlformats.org/drawingml/2006/chart" r:id="rId2"/>
          </a:graphicData>
        </a:graphic>
      </p:graphicFrame>
      <p:graphicFrame>
        <p:nvGraphicFramePr>
          <p:cNvPr id="5" name="real results"/>
          <p:cNvGraphicFramePr>
            <a:graphicFrameLocks noGrp="1"/>
          </p:cNvGraphicFramePr>
          <p:nvPr/>
        </p:nvGraphicFramePr>
        <p:xfrm>
          <a:off x="6217920" y="1783080"/>
          <a:ext cx="5394960" cy="2743200"/>
        </p:xfrm>
        <a:graphic>
          <a:graphicData uri="http://schemas.openxmlformats.org/drawingml/2006/table">
            <a:tbl>
              <a:tblPr firstRow="1" bandRow="0">
                <a:tableStyleId>{2D5ABB26-0587-4C30-8999-92F81FD0307C}</a:tableStyleId>
              </a:tblPr>
              <a:tblGrid>
                <a:gridCol w="3108960"/>
                <a:gridCol w="2286000"/>
              </a:tblGrid>
              <a:tr h="457200">
                <a:tc>
                  <a:txBody>
                    <a:bodyPr wrap="square"/>
                    <a:lstStyle/>
                    <a:p>
                      <a:r>
                        <a:rPr sz="1200" b="1">
                          <a:solidFill>
                            <a:srgbClr val="FFFFFF"/>
                          </a:solidFill>
                          <a:latin typeface="Trebuchet MS"/>
                        </a:rPr>
                        <a:t>Real-data test</a:t>
                      </a:r>
                    </a:p>
                  </a:txBody>
                  <a:tcPr marL="73152" marR="73152" marT="36576" marB="36576" anchor="ctr">
                    <a:solidFill>
                      <a:srgbClr val="0033CC"/>
                    </a:solidFill>
                  </a:tcPr>
                </a:tc>
                <a:tc>
                  <a:txBody>
                    <a:bodyPr wrap="square"/>
                    <a:lstStyle/>
                    <a:p>
                      <a:r>
                        <a:rPr sz="1200" b="1">
                          <a:solidFill>
                            <a:srgbClr val="FFFFFF"/>
                          </a:solidFill>
                          <a:latin typeface="Trebuchet MS"/>
                        </a:rPr>
                        <a:t>Result</a:t>
                      </a:r>
                    </a:p>
                  </a:txBody>
                  <a:tcPr marL="73152" marR="73152" marT="36576" marB="36576" anchor="ctr">
                    <a:solidFill>
                      <a:srgbClr val="0033CC"/>
                    </a:solidFill>
                  </a:tcPr>
                </a:tc>
              </a:tr>
              <a:tr h="457200">
                <a:tc>
                  <a:txBody>
                    <a:bodyPr wrap="square"/>
                    <a:lstStyle/>
                    <a:p>
                      <a:r>
                        <a:rPr sz="1200" b="1">
                          <a:solidFill>
                            <a:srgbClr val="1B1B1B"/>
                          </a:solidFill>
                          <a:latin typeface="Trebuchet MS"/>
                        </a:rPr>
                        <a:t>Within-neighbour placebo (65)</a:t>
                      </a:r>
                    </a:p>
                  </a:txBody>
                  <a:tcPr marL="73152" marR="73152" marT="36576" marB="36576" anchor="ctr">
                    <a:solidFill>
                      <a:srgbClr val="E8EEFB"/>
                    </a:solidFill>
                  </a:tcPr>
                </a:tc>
                <a:tc>
                  <a:txBody>
                    <a:bodyPr wrap="square"/>
                    <a:lstStyle/>
                    <a:p>
                      <a:r>
                        <a:rPr sz="1200" b="0">
                          <a:solidFill>
                            <a:srgbClr val="1B1B1B"/>
                          </a:solidFill>
                          <a:latin typeface="Trebuchet MS"/>
                        </a:rPr>
                        <a:t>+0.00 (-0.04 to +0.03)</a:t>
                      </a:r>
                    </a:p>
                  </a:txBody>
                  <a:tcPr marL="73152" marR="73152" marT="36576" marB="36576" anchor="ctr">
                    <a:solidFill>
                      <a:srgbClr val="E8EEFB"/>
                    </a:solidFill>
                  </a:tcPr>
                </a:tc>
              </a:tr>
              <a:tr h="457200">
                <a:tc>
                  <a:txBody>
                    <a:bodyPr wrap="square"/>
                    <a:lstStyle/>
                    <a:p>
                      <a:r>
                        <a:rPr sz="1200" b="1">
                          <a:solidFill>
                            <a:srgbClr val="1B1B1B"/>
                          </a:solidFill>
                          <a:latin typeface="Trebuchet MS"/>
                        </a:rPr>
                        <a:t>Stronger tie, more spillover?</a:t>
                      </a:r>
                    </a:p>
                  </a:txBody>
                  <a:tcPr marL="73152" marR="73152" marT="36576" marB="36576" anchor="ctr">
                    <a:solidFill>
                      <a:srgbClr val="FFFFFF"/>
                    </a:solidFill>
                  </a:tcPr>
                </a:tc>
                <a:tc>
                  <a:txBody>
                    <a:bodyPr wrap="square"/>
                    <a:lstStyle/>
                    <a:p>
                      <a:r>
                        <a:rPr sz="1200" b="0">
                          <a:solidFill>
                            <a:srgbClr val="1B1B1B"/>
                          </a:solidFill>
                          <a:latin typeface="Trebuchet MS"/>
                        </a:rPr>
                        <a:t>trend -0.05</a:t>
                      </a:r>
                    </a:p>
                  </a:txBody>
                  <a:tcPr marL="73152" marR="73152" marT="36576" marB="36576" anchor="ctr">
                    <a:solidFill>
                      <a:srgbClr val="FFFFFF"/>
                    </a:solidFill>
                  </a:tcPr>
                </a:tc>
              </a:tr>
              <a:tr h="457200">
                <a:tc>
                  <a:txBody>
                    <a:bodyPr wrap="square"/>
                    <a:lstStyle/>
                    <a:p>
                      <a:r>
                        <a:rPr sz="1200" b="1">
                          <a:solidFill>
                            <a:srgbClr val="1B1B1B"/>
                          </a:solidFill>
                          <a:latin typeface="Trebuchet MS"/>
                        </a:rPr>
                        <a:t>Sponsored vs usual video</a:t>
                      </a:r>
                    </a:p>
                  </a:txBody>
                  <a:tcPr marL="73152" marR="73152" marT="36576" marB="36576" anchor="ctr">
                    <a:solidFill>
                      <a:srgbClr val="E8EEFB"/>
                    </a:solidFill>
                  </a:tcPr>
                </a:tc>
                <a:tc>
                  <a:txBody>
                    <a:bodyPr wrap="square"/>
                    <a:lstStyle/>
                    <a:p>
                      <a:r>
                        <a:rPr sz="1200" b="0">
                          <a:solidFill>
                            <a:srgbClr val="1B1B1B"/>
                          </a:solidFill>
                          <a:latin typeface="Trebuchet MS"/>
                        </a:rPr>
                        <a:t>views x0.98</a:t>
                      </a:r>
                    </a:p>
                  </a:txBody>
                  <a:tcPr marL="73152" marR="73152" marT="36576" marB="36576" anchor="ctr">
                    <a:solidFill>
                      <a:srgbClr val="E8EEFB"/>
                    </a:solidFill>
                  </a:tcPr>
                </a:tc>
              </a:tr>
              <a:tr h="457200">
                <a:tc>
                  <a:txBody>
                    <a:bodyPr wrap="square"/>
                    <a:lstStyle/>
                    <a:p>
                      <a:r>
                        <a:rPr sz="1200" b="1">
                          <a:solidFill>
                            <a:srgbClr val="1B1B1B"/>
                          </a:solidFill>
                          <a:latin typeface="Trebuchet MS"/>
                        </a:rPr>
                        <a:t>Lag, Instagram to YouTube</a:t>
                      </a:r>
                    </a:p>
                  </a:txBody>
                  <a:tcPr marL="73152" marR="73152" marT="36576" marB="36576" anchor="ctr">
                    <a:solidFill>
                      <a:srgbClr val="FFFFFF"/>
                    </a:solidFill>
                  </a:tcPr>
                </a:tc>
                <a:tc>
                  <a:txBody>
                    <a:bodyPr wrap="square"/>
                    <a:lstStyle/>
                    <a:p>
                      <a:r>
                        <a:rPr sz="1200" b="0">
                          <a:solidFill>
                            <a:srgbClr val="1B1B1B"/>
                          </a:solidFill>
                          <a:latin typeface="Trebuchet MS"/>
                        </a:rPr>
                        <a:t>p = 0.043, not confirmed</a:t>
                      </a:r>
                    </a:p>
                  </a:txBody>
                  <a:tcPr marL="73152" marR="73152" marT="36576" marB="36576" anchor="ctr">
                    <a:solidFill>
                      <a:srgbClr val="FFFFFF"/>
                    </a:solidFill>
                  </a:tcPr>
                </a:tc>
              </a:tr>
              <a:tr h="457200">
                <a:tc>
                  <a:txBody>
                    <a:bodyPr wrap="square"/>
                    <a:lstStyle/>
                    <a:p>
                      <a:r>
                        <a:rPr sz="1200" b="1">
                          <a:solidFill>
                            <a:srgbClr val="1B1B1B"/>
                          </a:solidFill>
                          <a:latin typeface="Trebuchet MS"/>
                        </a:rPr>
                        <a:t>Ranking vs random (37 creators)</a:t>
                      </a:r>
                    </a:p>
                  </a:txBody>
                  <a:tcPr marL="73152" marR="73152" marT="36576" marB="36576" anchor="ctr">
                    <a:solidFill>
                      <a:srgbClr val="E8EEFB"/>
                    </a:solidFill>
                  </a:tcPr>
                </a:tc>
                <a:tc>
                  <a:txBody>
                    <a:bodyPr wrap="square"/>
                    <a:lstStyle/>
                    <a:p>
                      <a:r>
                        <a:rPr sz="1200" b="0">
                          <a:solidFill>
                            <a:srgbClr val="1B1B1B"/>
                          </a:solidFill>
                          <a:latin typeface="Trebuchet MS"/>
                        </a:rPr>
                        <a:t>no baseline beats random</a:t>
                      </a:r>
                    </a:p>
                  </a:txBody>
                  <a:tcPr marL="73152" marR="73152" marT="36576" marB="36576" anchor="ctr">
                    <a:solidFill>
                      <a:srgbClr val="E8EEFB"/>
                    </a:solidFill>
                  </a:tcPr>
                </a:tc>
              </a:tr>
            </a:tbl>
          </a:graphicData>
        </a:graphic>
      </p:graphicFrame>
      <p:sp>
        <p:nvSpPr>
          <p:cNvPr id="6" name="results text 2"/>
          <p:cNvSpPr txBox="1"/>
          <p:nvPr/>
        </p:nvSpPr>
        <p:spPr>
          <a:xfrm>
            <a:off x="640080" y="5074920"/>
            <a:ext cx="10972800" cy="1280160"/>
          </a:xfrm>
          <a:prstGeom prst="rect">
            <a:avLst/>
          </a:prstGeom>
          <a:noFill/>
        </p:spPr>
        <p:txBody>
          <a:bodyPr wrap="square" lIns="0" rIns="0" tIns="0" bIns="0" anchor="t">
            <a:spAutoFit/>
          </a:bodyPr>
          <a:lstStyle/>
          <a:p>
            <a:pPr algn="l" marL="274320" indent="-274320">
              <a:spcAft>
                <a:spcPts val="400"/>
              </a:spcAft>
              <a:buFont typeface="Wingdings" pitchFamily="2" charset="2"/>
              <a:buChar char="§"/>
            </a:pPr>
            <a:r>
              <a:rPr sz="1200" b="0">
                <a:solidFill>
                  <a:srgbClr val="0033CC"/>
                </a:solidFill>
                <a:latin typeface="Trebuchet MS"/>
              </a:rPr>
              <a:t>Expected a measurable spillover; observed none broad. The simulated check shows the test would catch an effect of 0.25 or more every time and the naive method raises false alarms, so the null is informative.</a:t>
            </a:r>
          </a:p>
          <a:p>
            <a:pPr algn="l" marL="274320" indent="-274320">
              <a:spcAft>
                <a:spcPts val="400"/>
              </a:spcAft>
              <a:buFont typeface="Wingdings" pitchFamily="2" charset="2"/>
              <a:buChar char="§"/>
            </a:pPr>
            <a:r>
              <a:rPr sz="1200" b="0">
                <a:solidFill>
                  <a:srgbClr val="0033CC"/>
                </a:solidFill>
                <a:latin typeface="Trebuchet MS"/>
              </a:rPr>
              <a:t>Reasons for the deviation: small labelled set (159 examples), graph mostly 'same brand', 17 days of growth readings; a localised effect (about 20% of neighbours) would be missed.</a:t>
            </a:r>
          </a:p>
          <a:p>
            <a:pPr algn="l" marL="274320" indent="-274320">
              <a:spcAft>
                <a:spcPts val="400"/>
              </a:spcAft>
              <a:buFont typeface="Wingdings" pitchFamily="2" charset="2"/>
              <a:buChar char="§"/>
            </a:pPr>
            <a:r>
              <a:rPr sz="1200" b="0">
                <a:solidFill>
                  <a:srgbClr val="0033CC"/>
                </a:solidFill>
                <a:latin typeface="Trebuchet MS"/>
              </a:rPr>
              <a:t>Compared with simple baselines (follower count, engagement rate, past effect) none beat random; GAIL's row follows the retrain.</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pstone Project - Review 3 - Template.pptx" id="{77E64785-C4AC-D447-9F20-AA3556BA4DEA}" vid="{211B08FD-A304-1146-A3C3-5229E601B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Capstone Project - Review 3 - Template (1)</Template>
  <TotalTime>757</TotalTime>
  <Words>487</Words>
  <Application>Microsoft Office PowerPoint</Application>
  <PresentationFormat>Widescreen</PresentationFormat>
  <Paragraphs>92</Paragraphs>
  <Slides>13</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Noto Sans Symbols</vt:lpstr>
      <vt:lpstr>Trebuchet MS</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KTwo Technology Solutions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VML</dc:creator>
  <cp:lastModifiedBy>gulshan vaswani</cp:lastModifiedBy>
  <cp:revision>341</cp:revision>
  <dcterms:created xsi:type="dcterms:W3CDTF">2020-11-22T08:14:37Z</dcterms:created>
  <dcterms:modified xsi:type="dcterms:W3CDTF">2026-10-17T18:23:27Z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